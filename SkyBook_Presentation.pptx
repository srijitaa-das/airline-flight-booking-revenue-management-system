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1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Revenue (₹)</c:v>
                </c:pt>
              </c:strCache>
            </c:strRef>
          </c:tx>
          <c:spPr>
            <a:solidFill>
              <a:srgbClr val="1C7293"/>
            </a:solidFill>
            <a:effectLst/>
          </c:spPr>
          <c:invertIfNegative val="0"/>
          <c:dLbls>
            <c:numFmt formatCode="#,##0" sourceLinked="0"/>
            <c:spPr>
              <a:noFill/>
              <a:ln>
                <a:noFill/>
              </a:ln>
              <a:effectLst/>
            </c:spPr>
            <c:txPr>
              <a:bodyPr/>
              <a:lstStyle/>
              <a:p>
                <a:pPr>
                  <a:defRPr sz="1100" b="0" i="0" u="none" strike="noStrike">
                    <a:solidFill>
                      <a:srgbClr val="1A27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IndiGo</c:v>
                </c:pt>
                <c:pt idx="1">
                  <c:v>Air India</c:v>
                </c:pt>
                <c:pt idx="2">
                  <c:v>Vistara</c:v>
                </c:pt>
                <c:pt idx="3">
                  <c:v>SpiceJet</c:v>
                </c:pt>
              </c:strCache>
            </c:strRef>
          </c:cat>
          <c:val>
            <c:numRef>
              <c:f>Sheet1!$B$2:$B$5</c:f>
              <c:numCache>
                <c:formatCode>General</c:formatCode>
                <c:ptCount val="4"/>
                <c:pt idx="0">
                  <c:v>32250</c:v>
                </c:pt>
                <c:pt idx="1">
                  <c:v>33900</c:v>
                </c:pt>
                <c:pt idx="2">
                  <c:v>35150</c:v>
                </c:pt>
                <c:pt idx="3">
                  <c:v>18600</c:v>
                </c:pt>
              </c:numCache>
            </c:numRef>
          </c:val>
          <c:extLst>
            <c:ext xmlns:c16="http://schemas.microsoft.com/office/drawing/2014/chart" uri="{C3380CC4-5D6E-409C-BE32-E72D297353CC}">
              <c16:uniqueId val="{00000000-F40F-42B5-ACF3-4EC5767A3B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7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B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0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Cumulative Revenue (₹)</c:v>
                </c:pt>
              </c:strCache>
            </c:strRef>
          </c:tx>
          <c:spPr>
            <a:ln w="31750" cap="flat">
              <a:solidFill>
                <a:srgbClr val="F4A300"/>
              </a:solidFill>
              <a:prstDash val="solid"/>
              <a:round/>
            </a:ln>
            <a:effectLst/>
          </c:spPr>
          <c:marker>
            <c:symbol val="circle"/>
            <c:size val="6"/>
            <c:spPr>
              <a:solidFill>
                <a:srgbClr val="F4A300"/>
              </a:solidFill>
              <a:ln w="9525" cap="flat">
                <a:solidFill>
                  <a:srgbClr val="F4A300"/>
                </a:solidFill>
                <a:prstDash val="solid"/>
                <a:round/>
              </a:ln>
              <a:effectLst/>
            </c:spPr>
          </c:marker>
          <c:cat>
            <c:strRef>
              <c:f>Sheet1!$A$2:$A$14</c:f>
              <c:strCache>
                <c:ptCount val="13"/>
                <c:pt idx="0">
                  <c:v>01/20</c:v>
                </c:pt>
                <c:pt idx="1">
                  <c:v>01/21</c:v>
                </c:pt>
                <c:pt idx="2">
                  <c:v>01/22</c:v>
                </c:pt>
                <c:pt idx="3">
                  <c:v>01/23</c:v>
                </c:pt>
                <c:pt idx="4">
                  <c:v>01/24</c:v>
                </c:pt>
                <c:pt idx="5">
                  <c:v>01/25</c:v>
                </c:pt>
                <c:pt idx="6">
                  <c:v>01/26</c:v>
                </c:pt>
                <c:pt idx="7">
                  <c:v>01/27</c:v>
                </c:pt>
                <c:pt idx="8">
                  <c:v>01/28</c:v>
                </c:pt>
                <c:pt idx="9">
                  <c:v>01/29</c:v>
                </c:pt>
                <c:pt idx="10">
                  <c:v>01/30</c:v>
                </c:pt>
                <c:pt idx="11">
                  <c:v>01/31</c:v>
                </c:pt>
                <c:pt idx="12">
                  <c:v>02/01</c:v>
                </c:pt>
              </c:strCache>
            </c:strRef>
          </c:cat>
          <c:val>
            <c:numRef>
              <c:f>Sheet1!$B$2:$B$14</c:f>
              <c:numCache>
                <c:formatCode>General</c:formatCode>
                <c:ptCount val="13"/>
                <c:pt idx="0">
                  <c:v>11250</c:v>
                </c:pt>
                <c:pt idx="1">
                  <c:v>20250</c:v>
                </c:pt>
                <c:pt idx="2">
                  <c:v>30850</c:v>
                </c:pt>
                <c:pt idx="3">
                  <c:v>40650</c:v>
                </c:pt>
                <c:pt idx="4">
                  <c:v>50300</c:v>
                </c:pt>
                <c:pt idx="5">
                  <c:v>56500</c:v>
                </c:pt>
                <c:pt idx="6">
                  <c:v>66050</c:v>
                </c:pt>
                <c:pt idx="7">
                  <c:v>75750</c:v>
                </c:pt>
                <c:pt idx="8">
                  <c:v>86300</c:v>
                </c:pt>
                <c:pt idx="9">
                  <c:v>96500</c:v>
                </c:pt>
                <c:pt idx="10">
                  <c:v>104500</c:v>
                </c:pt>
                <c:pt idx="11">
                  <c:v>115000</c:v>
                </c:pt>
                <c:pt idx="12">
                  <c:v>119900</c:v>
                </c:pt>
              </c:numCache>
            </c:numRef>
          </c:val>
          <c:smooth val="0"/>
          <c:extLst>
            <c:ext xmlns:c16="http://schemas.microsoft.com/office/drawing/2014/chart" uri="{C3380CC4-5D6E-409C-BE32-E72D297353CC}">
              <c16:uniqueId val="{00000000-6649-4348-8E76-22BC395D670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B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0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09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20320" y="0"/>
            <a:ext cx="12188952" cy="6858000"/>
          </a:xfrm>
          <a:prstGeom prst="rect">
            <a:avLst/>
          </a:prstGeom>
          <a:solidFill>
            <a:srgbClr val="0B3D5C"/>
          </a:solidFill>
          <a:ln/>
        </p:spPr>
        <p:txBody>
          <a:bodyPr/>
          <a:lstStyle/>
          <a:p>
            <a:endParaRPr lang="en-IN" dirty="0"/>
          </a:p>
        </p:txBody>
      </p:sp>
      <p:sp>
        <p:nvSpPr>
          <p:cNvPr id="3" name="Shape 1"/>
          <p:cNvSpPr/>
          <p:nvPr/>
        </p:nvSpPr>
        <p:spPr>
          <a:xfrm>
            <a:off x="8412480" y="-2286000"/>
            <a:ext cx="7315200" cy="7315200"/>
          </a:xfrm>
          <a:prstGeom prst="ellipse">
            <a:avLst/>
          </a:prstGeom>
          <a:solidFill>
            <a:srgbClr val="1C7293">
              <a:alpha val="22000"/>
            </a:srgbClr>
          </a:solidFill>
          <a:ln/>
        </p:spPr>
        <p:txBody>
          <a:bodyPr/>
          <a:lstStyle/>
          <a:p>
            <a:endParaRPr lang="en-IN"/>
          </a:p>
        </p:txBody>
      </p:sp>
      <p:sp>
        <p:nvSpPr>
          <p:cNvPr id="4" name="Shape 2"/>
          <p:cNvSpPr/>
          <p:nvPr/>
        </p:nvSpPr>
        <p:spPr>
          <a:xfrm>
            <a:off x="9875520" y="3200400"/>
            <a:ext cx="4572000" cy="4572000"/>
          </a:xfrm>
          <a:prstGeom prst="ellipse">
            <a:avLst/>
          </a:prstGeom>
          <a:solidFill>
            <a:srgbClr val="F4A300">
              <a:alpha val="15000"/>
            </a:srgbClr>
          </a:solidFill>
          <a:ln/>
        </p:spPr>
        <p:txBody>
          <a:bodyPr/>
          <a:lstStyle/>
          <a:p>
            <a:endParaRPr lang="en-IN"/>
          </a:p>
        </p:txBody>
      </p:sp>
      <p:sp>
        <p:nvSpPr>
          <p:cNvPr id="5" name="Text 3"/>
          <p:cNvSpPr txBox="1"/>
          <p:nvPr/>
        </p:nvSpPr>
        <p:spPr>
          <a:xfrm>
            <a:off x="822960" y="1417320"/>
            <a:ext cx="7315200" cy="411480"/>
          </a:xfrm>
          <a:prstGeom prst="rect">
            <a:avLst/>
          </a:prstGeom>
          <a:noFill/>
          <a:ln/>
        </p:spPr>
        <p:txBody>
          <a:bodyPr wrap="square" lIns="0" tIns="0" rIns="0" bIns="0" rtlCol="0" anchor="ctr"/>
          <a:lstStyle/>
          <a:p>
            <a:pPr marL="0" indent="0">
              <a:buNone/>
            </a:pPr>
            <a:r>
              <a:rPr lang="en-US" sz="1500" b="1" kern="0" spc="300" dirty="0">
                <a:solidFill>
                  <a:srgbClr val="F4A300"/>
                </a:solidFill>
                <a:latin typeface="Calibri" pitchFamily="34" charset="0"/>
                <a:ea typeface="Calibri" pitchFamily="34" charset="-122"/>
                <a:cs typeface="Calibri" pitchFamily="34" charset="-120"/>
              </a:rPr>
              <a:t>SQL DATABASE PROJECT</a:t>
            </a:r>
            <a:endParaRPr lang="en-US" sz="1500" dirty="0"/>
          </a:p>
        </p:txBody>
      </p:sp>
      <p:sp>
        <p:nvSpPr>
          <p:cNvPr id="6" name="Text 4"/>
          <p:cNvSpPr txBox="1"/>
          <p:nvPr/>
        </p:nvSpPr>
        <p:spPr>
          <a:xfrm>
            <a:off x="777240" y="1874520"/>
            <a:ext cx="91440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SkyBook</a:t>
            </a:r>
            <a:endParaRPr lang="en-US" sz="6000" dirty="0"/>
          </a:p>
        </p:txBody>
      </p:sp>
      <p:sp>
        <p:nvSpPr>
          <p:cNvPr id="7" name="Text 5"/>
          <p:cNvSpPr txBox="1"/>
          <p:nvPr/>
        </p:nvSpPr>
        <p:spPr>
          <a:xfrm>
            <a:off x="777240" y="2980944"/>
            <a:ext cx="9601200" cy="54864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Airline Flight Booking &amp; Revenue Management System</a:t>
            </a:r>
            <a:endParaRPr lang="en-US" sz="2200" dirty="0"/>
          </a:p>
        </p:txBody>
      </p:sp>
      <p:sp>
        <p:nvSpPr>
          <p:cNvPr id="8" name="Text 6"/>
          <p:cNvSpPr txBox="1"/>
          <p:nvPr/>
        </p:nvSpPr>
        <p:spPr>
          <a:xfrm>
            <a:off x="822960" y="3794760"/>
            <a:ext cx="9601200" cy="365760"/>
          </a:xfrm>
          <a:prstGeom prst="rect">
            <a:avLst/>
          </a:prstGeom>
          <a:noFill/>
          <a:ln/>
        </p:spPr>
        <p:txBody>
          <a:bodyPr wrap="square" lIns="0" tIns="0" rIns="0" bIns="0" rtlCol="0" anchor="ctr"/>
          <a:lstStyle/>
          <a:p>
            <a:pPr marL="0" indent="0">
              <a:buNone/>
            </a:pPr>
            <a:r>
              <a:rPr lang="en-US" sz="1400" dirty="0">
                <a:solidFill>
                  <a:srgbClr val="9FB8C8"/>
                </a:solidFill>
                <a:latin typeface="Calibri" pitchFamily="34" charset="0"/>
                <a:ea typeface="Calibri" pitchFamily="34" charset="-122"/>
                <a:cs typeface="Calibri" pitchFamily="34" charset="-120"/>
              </a:rPr>
              <a:t>Relational schema  •  Joins &amp; Subqueries  •  Window Functions  •  CTEs  •  Views &amp; Indexes</a:t>
            </a:r>
            <a:endParaRPr lang="en-US" sz="1400" dirty="0"/>
          </a:p>
        </p:txBody>
      </p:sp>
      <p:sp>
        <p:nvSpPr>
          <p:cNvPr id="9" name="Shape 7"/>
          <p:cNvSpPr/>
          <p:nvPr/>
        </p:nvSpPr>
        <p:spPr>
          <a:xfrm>
            <a:off x="822960" y="5806440"/>
            <a:ext cx="1280160" cy="0"/>
          </a:xfrm>
          <a:prstGeom prst="line">
            <a:avLst/>
          </a:prstGeom>
          <a:noFill/>
          <a:ln w="31750">
            <a:solidFill>
              <a:srgbClr val="F4A300"/>
            </a:solidFill>
            <a:prstDash val="solid"/>
          </a:ln>
        </p:spPr>
        <p:txBody>
          <a:bodyPr/>
          <a:lstStyle/>
          <a:p>
            <a:endParaRPr lang="en-IN"/>
          </a:p>
        </p:txBody>
      </p:sp>
      <p:sp>
        <p:nvSpPr>
          <p:cNvPr id="10" name="Text 8"/>
          <p:cNvSpPr txBox="1"/>
          <p:nvPr/>
        </p:nvSpPr>
        <p:spPr>
          <a:xfrm>
            <a:off x="822960" y="5897880"/>
            <a:ext cx="45720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Prepared by Sadia Uzma Ashrafi, Srijita Das, Gourab Mondal</a:t>
            </a:r>
            <a:r>
              <a:rPr lang="en-US" sz="1400" b="1">
                <a:solidFill>
                  <a:srgbClr val="FFFFFF"/>
                </a:solidFill>
                <a:latin typeface="Calibri" pitchFamily="34" charset="0"/>
                <a:ea typeface="Calibri" pitchFamily="34" charset="-122"/>
                <a:cs typeface="Calibri" pitchFamily="34" charset="-120"/>
              </a:rPr>
              <a:t>, Tuhin Roy</a:t>
            </a:r>
          </a:p>
        </p:txBody>
      </p:sp>
      <p:sp>
        <p:nvSpPr>
          <p:cNvPr id="11" name="Text 9"/>
          <p:cNvSpPr txBox="1"/>
          <p:nvPr/>
        </p:nvSpPr>
        <p:spPr>
          <a:xfrm>
            <a:off x="822960" y="6199632"/>
            <a:ext cx="5486400" cy="274320"/>
          </a:xfrm>
          <a:prstGeom prst="rect">
            <a:avLst/>
          </a:prstGeom>
          <a:noFill/>
          <a:ln/>
        </p:spPr>
        <p:txBody>
          <a:bodyPr wrap="square" lIns="0" tIns="0" rIns="0" bIns="0" rtlCol="0" anchor="ctr"/>
          <a:lstStyle/>
          <a:p>
            <a:pPr marL="0" indent="0">
              <a:buNone/>
            </a:pPr>
            <a:r>
              <a:rPr lang="en-US" sz="1100" dirty="0">
                <a:solidFill>
                  <a:srgbClr val="9FB8C8"/>
                </a:solidFill>
                <a:latin typeface="Calibri" pitchFamily="34" charset="0"/>
                <a:ea typeface="Calibri" pitchFamily="34" charset="-122"/>
                <a:cs typeface="Calibri" pitchFamily="34" charset="-120"/>
              </a:rPr>
              <a:t>Database: </a:t>
            </a:r>
            <a:r>
              <a:rPr lang="en-US" sz="1100" dirty="0" err="1">
                <a:solidFill>
                  <a:srgbClr val="9FB8C8"/>
                </a:solidFill>
                <a:latin typeface="Calibri" pitchFamily="34" charset="0"/>
                <a:ea typeface="Calibri" pitchFamily="34" charset="-122"/>
                <a:cs typeface="Calibri" pitchFamily="34" charset="-120"/>
              </a:rPr>
              <a:t>SkyBookDB</a:t>
            </a:r>
            <a:r>
              <a:rPr lang="en-US" sz="1100" dirty="0">
                <a:solidFill>
                  <a:srgbClr val="9FB8C8"/>
                </a:solidFill>
                <a:latin typeface="Calibri" pitchFamily="34" charset="0"/>
                <a:ea typeface="Calibri" pitchFamily="34" charset="-122"/>
                <a:cs typeface="Calibri" pitchFamily="34" charset="-12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822960"/>
            <a:ext cx="10515600" cy="822960"/>
          </a:xfrm>
          <a:prstGeom prst="rect">
            <a:avLst/>
          </a:prstGeom>
          <a:noFill/>
          <a:ln/>
        </p:spPr>
        <p:txBody>
          <a:bodyPr wrap="square" lIns="0" tIns="0" rIns="0" bIns="0" rtlCol="0" anchor="ctr"/>
          <a:lstStyle/>
          <a:p>
            <a:pPr marL="0" indent="0">
              <a:buNone/>
            </a:pPr>
            <a:r>
              <a:rPr lang="en-US" sz="2800" b="1" dirty="0">
                <a:solidFill>
                  <a:srgbClr val="1A2733"/>
                </a:solidFill>
                <a:latin typeface="Cambria" pitchFamily="34" charset="0"/>
                <a:ea typeface="Cambria" pitchFamily="34" charset="-122"/>
                <a:cs typeface="Cambria" pitchFamily="34" charset="-120"/>
              </a:rPr>
              <a:t>Booking data is scattered — a relational database fixes that</a:t>
            </a:r>
            <a:endParaRPr lang="en-US" sz="2800" dirty="0"/>
          </a:p>
        </p:txBody>
      </p:sp>
      <p:sp>
        <p:nvSpPr>
          <p:cNvPr id="4" name="Text 2"/>
          <p:cNvSpPr txBox="1"/>
          <p:nvPr/>
        </p:nvSpPr>
        <p:spPr>
          <a:xfrm>
            <a:off x="548640" y="1691640"/>
            <a:ext cx="6035040" cy="1645920"/>
          </a:xfrm>
          <a:prstGeom prst="rect">
            <a:avLst/>
          </a:prstGeom>
          <a:noFill/>
          <a:ln/>
        </p:spPr>
        <p:txBody>
          <a:bodyPr wrap="square" lIns="0" tIns="0" rIns="0" bIns="0" rtlCol="0" anchor="ctr"/>
          <a:lstStyle/>
          <a:p>
            <a:pPr marL="0" indent="0">
              <a:lnSpc>
                <a:spcPct val="125000"/>
              </a:lnSpc>
              <a:buNone/>
            </a:pPr>
            <a:r>
              <a:rPr lang="en-US" sz="1500" dirty="0">
                <a:solidFill>
                  <a:srgbClr val="5C7080"/>
                </a:solidFill>
                <a:latin typeface="Calibri" pitchFamily="34" charset="0"/>
                <a:ea typeface="Calibri" pitchFamily="34" charset="-122"/>
                <a:cs typeface="Calibri" pitchFamily="34" charset="-120"/>
              </a:rPr>
              <a:t>An airline booking desk deals with passengers, flights, seat inventory, and payments at the same time. Managed in spreadsheets, this data duplicates fast, goes out of sync, and makes even simple questions — "which route earns the most?" — hard to answer reliably.</a:t>
            </a:r>
            <a:endParaRPr lang="en-US" sz="1500" dirty="0"/>
          </a:p>
        </p:txBody>
      </p:sp>
      <p:sp>
        <p:nvSpPr>
          <p:cNvPr id="5" name="Shape 3"/>
          <p:cNvSpPr/>
          <p:nvPr/>
        </p:nvSpPr>
        <p:spPr>
          <a:xfrm>
            <a:off x="548640" y="3657600"/>
            <a:ext cx="6035040" cy="822960"/>
          </a:xfrm>
          <a:prstGeom prst="roundRect">
            <a:avLst>
              <a:gd name="adj" fmla="val 8889"/>
            </a:avLst>
          </a:prstGeom>
          <a:solidFill>
            <a:srgbClr val="F5F9FC"/>
          </a:solidFill>
          <a:ln/>
        </p:spPr>
        <p:txBody>
          <a:bodyPr/>
          <a:lstStyle/>
          <a:p>
            <a:endParaRPr lang="en-IN"/>
          </a:p>
        </p:txBody>
      </p:sp>
      <p:sp>
        <p:nvSpPr>
          <p:cNvPr id="6" name="Shape 4"/>
          <p:cNvSpPr/>
          <p:nvPr/>
        </p:nvSpPr>
        <p:spPr>
          <a:xfrm>
            <a:off x="548640" y="3657600"/>
            <a:ext cx="73152" cy="822960"/>
          </a:xfrm>
          <a:prstGeom prst="rect">
            <a:avLst/>
          </a:prstGeom>
          <a:solidFill>
            <a:srgbClr val="F4A300"/>
          </a:solidFill>
          <a:ln/>
        </p:spPr>
        <p:txBody>
          <a:bodyPr/>
          <a:lstStyle/>
          <a:p>
            <a:endParaRPr lang="en-IN"/>
          </a:p>
        </p:txBody>
      </p:sp>
      <p:sp>
        <p:nvSpPr>
          <p:cNvPr id="7" name="Text 5"/>
          <p:cNvSpPr txBox="1"/>
          <p:nvPr/>
        </p:nvSpPr>
        <p:spPr>
          <a:xfrm>
            <a:off x="777240" y="3730752"/>
            <a:ext cx="5669280" cy="32004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Redundant data</a:t>
            </a:r>
            <a:endParaRPr lang="en-US" sz="1400" dirty="0"/>
          </a:p>
        </p:txBody>
      </p:sp>
      <p:sp>
        <p:nvSpPr>
          <p:cNvPr id="8" name="Text 6"/>
          <p:cNvSpPr txBox="1"/>
          <p:nvPr/>
        </p:nvSpPr>
        <p:spPr>
          <a:xfrm>
            <a:off x="777240" y="4041648"/>
            <a:ext cx="5669280" cy="365760"/>
          </a:xfrm>
          <a:prstGeom prst="rect">
            <a:avLst/>
          </a:prstGeom>
          <a:noFill/>
          <a:ln/>
        </p:spPr>
        <p:txBody>
          <a:bodyPr wrap="square" lIns="0" tIns="0" rIns="0" bIns="0" rtlCol="0" anchor="ctr"/>
          <a:lstStyle/>
          <a:p>
            <a:pPr marL="0" indent="0">
              <a:buNone/>
            </a:pPr>
            <a:r>
              <a:rPr lang="en-US" sz="1150" dirty="0">
                <a:solidFill>
                  <a:srgbClr val="5C7080"/>
                </a:solidFill>
                <a:latin typeface="Calibri" pitchFamily="34" charset="0"/>
                <a:ea typeface="Calibri" pitchFamily="34" charset="-122"/>
                <a:cs typeface="Calibri" pitchFamily="34" charset="-120"/>
              </a:rPr>
              <a:t>Passenger and flight details repeated across every booking row</a:t>
            </a:r>
            <a:endParaRPr lang="en-US" sz="1150" dirty="0"/>
          </a:p>
        </p:txBody>
      </p:sp>
      <p:sp>
        <p:nvSpPr>
          <p:cNvPr id="9" name="Shape 7"/>
          <p:cNvSpPr/>
          <p:nvPr/>
        </p:nvSpPr>
        <p:spPr>
          <a:xfrm>
            <a:off x="548640" y="4617720"/>
            <a:ext cx="6035040" cy="822960"/>
          </a:xfrm>
          <a:prstGeom prst="roundRect">
            <a:avLst>
              <a:gd name="adj" fmla="val 8889"/>
            </a:avLst>
          </a:prstGeom>
          <a:solidFill>
            <a:srgbClr val="F5F9FC"/>
          </a:solidFill>
          <a:ln/>
        </p:spPr>
        <p:txBody>
          <a:bodyPr/>
          <a:lstStyle/>
          <a:p>
            <a:endParaRPr lang="en-IN"/>
          </a:p>
        </p:txBody>
      </p:sp>
      <p:sp>
        <p:nvSpPr>
          <p:cNvPr id="10" name="Shape 8"/>
          <p:cNvSpPr/>
          <p:nvPr/>
        </p:nvSpPr>
        <p:spPr>
          <a:xfrm>
            <a:off x="548640" y="4617720"/>
            <a:ext cx="73152" cy="822960"/>
          </a:xfrm>
          <a:prstGeom prst="rect">
            <a:avLst/>
          </a:prstGeom>
          <a:solidFill>
            <a:srgbClr val="F4A300"/>
          </a:solidFill>
          <a:ln/>
        </p:spPr>
        <p:txBody>
          <a:bodyPr/>
          <a:lstStyle/>
          <a:p>
            <a:endParaRPr lang="en-IN"/>
          </a:p>
        </p:txBody>
      </p:sp>
      <p:sp>
        <p:nvSpPr>
          <p:cNvPr id="11" name="Text 9"/>
          <p:cNvSpPr txBox="1"/>
          <p:nvPr/>
        </p:nvSpPr>
        <p:spPr>
          <a:xfrm>
            <a:off x="777240" y="4690872"/>
            <a:ext cx="5669280" cy="32004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No single source of truth</a:t>
            </a:r>
            <a:endParaRPr lang="en-US" sz="1400" dirty="0"/>
          </a:p>
        </p:txBody>
      </p:sp>
      <p:sp>
        <p:nvSpPr>
          <p:cNvPr id="12" name="Text 10"/>
          <p:cNvSpPr txBox="1"/>
          <p:nvPr/>
        </p:nvSpPr>
        <p:spPr>
          <a:xfrm>
            <a:off x="777240" y="5001768"/>
            <a:ext cx="5669280" cy="365760"/>
          </a:xfrm>
          <a:prstGeom prst="rect">
            <a:avLst/>
          </a:prstGeom>
          <a:noFill/>
          <a:ln/>
        </p:spPr>
        <p:txBody>
          <a:bodyPr wrap="square" lIns="0" tIns="0" rIns="0" bIns="0" rtlCol="0" anchor="ctr"/>
          <a:lstStyle/>
          <a:p>
            <a:pPr marL="0" indent="0">
              <a:buNone/>
            </a:pPr>
            <a:r>
              <a:rPr lang="en-US" sz="1150" dirty="0">
                <a:solidFill>
                  <a:srgbClr val="5C7080"/>
                </a:solidFill>
                <a:latin typeface="Calibri" pitchFamily="34" charset="0"/>
                <a:ea typeface="Calibri" pitchFamily="34" charset="-122"/>
                <a:cs typeface="Calibri" pitchFamily="34" charset="-120"/>
              </a:rPr>
              <a:t>Front desk, ops, and finance each keep their own version</a:t>
            </a:r>
            <a:endParaRPr lang="en-US" sz="1150" dirty="0"/>
          </a:p>
        </p:txBody>
      </p:sp>
      <p:sp>
        <p:nvSpPr>
          <p:cNvPr id="13" name="Shape 11"/>
          <p:cNvSpPr/>
          <p:nvPr/>
        </p:nvSpPr>
        <p:spPr>
          <a:xfrm>
            <a:off x="548640" y="5577840"/>
            <a:ext cx="6035040" cy="822960"/>
          </a:xfrm>
          <a:prstGeom prst="roundRect">
            <a:avLst>
              <a:gd name="adj" fmla="val 8889"/>
            </a:avLst>
          </a:prstGeom>
          <a:solidFill>
            <a:srgbClr val="F5F9FC"/>
          </a:solidFill>
          <a:ln/>
        </p:spPr>
        <p:txBody>
          <a:bodyPr/>
          <a:lstStyle/>
          <a:p>
            <a:endParaRPr lang="en-IN"/>
          </a:p>
        </p:txBody>
      </p:sp>
      <p:sp>
        <p:nvSpPr>
          <p:cNvPr id="14" name="Shape 12"/>
          <p:cNvSpPr/>
          <p:nvPr/>
        </p:nvSpPr>
        <p:spPr>
          <a:xfrm>
            <a:off x="548640" y="5577840"/>
            <a:ext cx="73152" cy="822960"/>
          </a:xfrm>
          <a:prstGeom prst="rect">
            <a:avLst/>
          </a:prstGeom>
          <a:solidFill>
            <a:srgbClr val="F4A300"/>
          </a:solidFill>
          <a:ln/>
        </p:spPr>
        <p:txBody>
          <a:bodyPr/>
          <a:lstStyle/>
          <a:p>
            <a:endParaRPr lang="en-IN"/>
          </a:p>
        </p:txBody>
      </p:sp>
      <p:sp>
        <p:nvSpPr>
          <p:cNvPr id="15" name="Text 13"/>
          <p:cNvSpPr txBox="1"/>
          <p:nvPr/>
        </p:nvSpPr>
        <p:spPr>
          <a:xfrm>
            <a:off x="777240" y="5650992"/>
            <a:ext cx="5669280" cy="32004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Hard to report on</a:t>
            </a:r>
            <a:endParaRPr lang="en-US" sz="1400" dirty="0"/>
          </a:p>
        </p:txBody>
      </p:sp>
      <p:sp>
        <p:nvSpPr>
          <p:cNvPr id="16" name="Text 14"/>
          <p:cNvSpPr txBox="1"/>
          <p:nvPr/>
        </p:nvSpPr>
        <p:spPr>
          <a:xfrm>
            <a:off x="777240" y="5961888"/>
            <a:ext cx="5669280" cy="365760"/>
          </a:xfrm>
          <a:prstGeom prst="rect">
            <a:avLst/>
          </a:prstGeom>
          <a:noFill/>
          <a:ln/>
        </p:spPr>
        <p:txBody>
          <a:bodyPr wrap="square" lIns="0" tIns="0" rIns="0" bIns="0" rtlCol="0" anchor="ctr"/>
          <a:lstStyle/>
          <a:p>
            <a:pPr marL="0" indent="0">
              <a:buNone/>
            </a:pPr>
            <a:r>
              <a:rPr lang="en-US" sz="1150" dirty="0">
                <a:solidFill>
                  <a:srgbClr val="5C7080"/>
                </a:solidFill>
                <a:latin typeface="Calibri" pitchFamily="34" charset="0"/>
                <a:ea typeface="Calibri" pitchFamily="34" charset="-122"/>
                <a:cs typeface="Calibri" pitchFamily="34" charset="-120"/>
              </a:rPr>
              <a:t>"Top route by revenue" needs manual spreadsheet gymnastics</a:t>
            </a:r>
            <a:endParaRPr lang="en-US" sz="1150" dirty="0"/>
          </a:p>
        </p:txBody>
      </p:sp>
      <p:sp>
        <p:nvSpPr>
          <p:cNvPr id="17" name="Shape 15"/>
          <p:cNvSpPr/>
          <p:nvPr/>
        </p:nvSpPr>
        <p:spPr>
          <a:xfrm>
            <a:off x="6949440" y="1691640"/>
            <a:ext cx="4709160" cy="4572000"/>
          </a:xfrm>
          <a:prstGeom prst="roundRect">
            <a:avLst>
              <a:gd name="adj" fmla="val 2000"/>
            </a:avLst>
          </a:prstGeom>
          <a:solidFill>
            <a:srgbClr val="0B3D5C"/>
          </a:solidFill>
          <a:ln/>
        </p:spPr>
        <p:txBody>
          <a:bodyPr/>
          <a:lstStyle/>
          <a:p>
            <a:endParaRPr lang="en-IN"/>
          </a:p>
        </p:txBody>
      </p:sp>
      <p:sp>
        <p:nvSpPr>
          <p:cNvPr id="18" name="Text 16"/>
          <p:cNvSpPr txBox="1"/>
          <p:nvPr/>
        </p:nvSpPr>
        <p:spPr>
          <a:xfrm>
            <a:off x="7315200" y="1965960"/>
            <a:ext cx="4023360" cy="320040"/>
          </a:xfrm>
          <a:prstGeom prst="rect">
            <a:avLst/>
          </a:prstGeom>
          <a:noFill/>
          <a:ln/>
        </p:spPr>
        <p:txBody>
          <a:bodyPr wrap="square" lIns="0" tIns="0" rIns="0" bIns="0"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SkyBookDB AT A GLANCE</a:t>
            </a:r>
            <a:endParaRPr lang="en-US" sz="1200" dirty="0"/>
          </a:p>
        </p:txBody>
      </p:sp>
      <p:sp>
        <p:nvSpPr>
          <p:cNvPr id="19" name="Text 17"/>
          <p:cNvSpPr txBox="1"/>
          <p:nvPr/>
        </p:nvSpPr>
        <p:spPr>
          <a:xfrm>
            <a:off x="7315200" y="25146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20" name="Text 18"/>
          <p:cNvSpPr txBox="1"/>
          <p:nvPr/>
        </p:nvSpPr>
        <p:spPr>
          <a:xfrm>
            <a:off x="8686800" y="26791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Linked tables</a:t>
            </a:r>
            <a:endParaRPr lang="en-US" sz="1300" dirty="0"/>
          </a:p>
        </p:txBody>
      </p:sp>
      <p:sp>
        <p:nvSpPr>
          <p:cNvPr id="21" name="Text 19"/>
          <p:cNvSpPr txBox="1"/>
          <p:nvPr/>
        </p:nvSpPr>
        <p:spPr>
          <a:xfrm>
            <a:off x="7315200" y="34290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30</a:t>
            </a:r>
            <a:endParaRPr lang="en-US" sz="4000" dirty="0"/>
          </a:p>
        </p:txBody>
      </p:sp>
      <p:sp>
        <p:nvSpPr>
          <p:cNvPr id="22" name="Text 20"/>
          <p:cNvSpPr txBox="1"/>
          <p:nvPr/>
        </p:nvSpPr>
        <p:spPr>
          <a:xfrm>
            <a:off x="8686800" y="35935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SQL queries answered</a:t>
            </a:r>
            <a:endParaRPr lang="en-US" sz="1300" dirty="0"/>
          </a:p>
        </p:txBody>
      </p:sp>
      <p:sp>
        <p:nvSpPr>
          <p:cNvPr id="23" name="Text 21"/>
          <p:cNvSpPr txBox="1"/>
          <p:nvPr/>
        </p:nvSpPr>
        <p:spPr>
          <a:xfrm>
            <a:off x="7315200" y="43434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24" name="Text 22"/>
          <p:cNvSpPr txBox="1"/>
          <p:nvPr/>
        </p:nvSpPr>
        <p:spPr>
          <a:xfrm>
            <a:off x="8686800" y="45079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Window-function techniques</a:t>
            </a:r>
            <a:endParaRPr lang="en-US" sz="1300" dirty="0"/>
          </a:p>
        </p:txBody>
      </p:sp>
      <p:sp>
        <p:nvSpPr>
          <p:cNvPr id="25" name="Text 23"/>
          <p:cNvSpPr txBox="1"/>
          <p:nvPr/>
        </p:nvSpPr>
        <p:spPr>
          <a:xfrm>
            <a:off x="7315200" y="52578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26" name="Text 24"/>
          <p:cNvSpPr txBox="1"/>
          <p:nvPr/>
        </p:nvSpPr>
        <p:spPr>
          <a:xfrm>
            <a:off x="8686800" y="54223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Reporting views + 2 indexes</a:t>
            </a:r>
            <a:endParaRPr lang="en-US" sz="1300" dirty="0"/>
          </a:p>
        </p:txBody>
      </p:sp>
      <p:sp>
        <p:nvSpPr>
          <p:cNvPr id="27" name="Text 25"/>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APPROACH</a:t>
            </a:r>
            <a:endParaRPr lang="en-US" sz="1300" dirty="0"/>
          </a:p>
        </p:txBody>
      </p:sp>
      <p:sp>
        <p:nvSpPr>
          <p:cNvPr id="3" name="Text 1"/>
          <p:cNvSpPr txBox="1"/>
          <p:nvPr/>
        </p:nvSpPr>
        <p:spPr>
          <a:xfrm>
            <a:off x="548640" y="822960"/>
            <a:ext cx="10058400" cy="640080"/>
          </a:xfrm>
          <a:prstGeom prst="rect">
            <a:avLst/>
          </a:prstGeom>
          <a:noFill/>
          <a:ln/>
        </p:spPr>
        <p:txBody>
          <a:bodyPr wrap="square" lIns="0" tIns="0" rIns="0" bIns="0" rtlCol="0" anchor="ctr"/>
          <a:lstStyle/>
          <a:p>
            <a:pPr marL="0" indent="0">
              <a:buNone/>
            </a:pPr>
            <a:r>
              <a:rPr lang="en-US" sz="2800" b="1" dirty="0">
                <a:solidFill>
                  <a:srgbClr val="1A2733"/>
                </a:solidFill>
                <a:latin typeface="Cambria" pitchFamily="34" charset="0"/>
                <a:ea typeface="Cambria" pitchFamily="34" charset="-122"/>
                <a:cs typeface="Cambria" pitchFamily="34" charset="-120"/>
              </a:rPr>
              <a:t>A four-stage build, start to finish</a:t>
            </a:r>
            <a:endParaRPr lang="en-US" sz="2800" dirty="0"/>
          </a:p>
        </p:txBody>
      </p:sp>
      <p:sp>
        <p:nvSpPr>
          <p:cNvPr id="4" name="Shape 2"/>
          <p:cNvSpPr/>
          <p:nvPr/>
        </p:nvSpPr>
        <p:spPr>
          <a:xfrm>
            <a:off x="548640" y="1920240"/>
            <a:ext cx="2697480" cy="3749040"/>
          </a:xfrm>
          <a:prstGeom prst="roundRect">
            <a:avLst>
              <a:gd name="adj" fmla="val 3390"/>
            </a:avLst>
          </a:prstGeom>
          <a:solidFill>
            <a:srgbClr val="F5F9FC"/>
          </a:solidFill>
          <a:ln/>
        </p:spPr>
        <p:txBody>
          <a:bodyPr/>
          <a:lstStyle/>
          <a:p>
            <a:endParaRPr lang="en-IN"/>
          </a:p>
        </p:txBody>
      </p:sp>
      <p:sp>
        <p:nvSpPr>
          <p:cNvPr id="5" name="Shape 3"/>
          <p:cNvSpPr/>
          <p:nvPr/>
        </p:nvSpPr>
        <p:spPr>
          <a:xfrm>
            <a:off x="777240" y="2194560"/>
            <a:ext cx="640080" cy="640080"/>
          </a:xfrm>
          <a:prstGeom prst="ellipse">
            <a:avLst/>
          </a:prstGeom>
          <a:solidFill>
            <a:srgbClr val="0B3D5C"/>
          </a:solidFill>
          <a:ln/>
        </p:spPr>
        <p:txBody>
          <a:bodyPr/>
          <a:lstStyle/>
          <a:p>
            <a:endParaRPr lang="en-IN"/>
          </a:p>
        </p:txBody>
      </p:sp>
      <p:sp>
        <p:nvSpPr>
          <p:cNvPr id="6" name="Text 4"/>
          <p:cNvSpPr txBox="1"/>
          <p:nvPr/>
        </p:nvSpPr>
        <p:spPr>
          <a:xfrm>
            <a:off x="77724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7" name="Text 5"/>
          <p:cNvSpPr txBox="1"/>
          <p:nvPr/>
        </p:nvSpPr>
        <p:spPr>
          <a:xfrm>
            <a:off x="77724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Define Questions</a:t>
            </a:r>
            <a:endParaRPr lang="en-US" sz="1500" dirty="0"/>
          </a:p>
        </p:txBody>
      </p:sp>
      <p:sp>
        <p:nvSpPr>
          <p:cNvPr id="8" name="Text 6"/>
          <p:cNvSpPr txBox="1"/>
          <p:nvPr/>
        </p:nvSpPr>
        <p:spPr>
          <a:xfrm>
            <a:off x="77724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What should the business be able to ask this database?</a:t>
            </a:r>
            <a:endParaRPr lang="en-US" sz="1150" dirty="0"/>
          </a:p>
        </p:txBody>
      </p:sp>
      <p:sp>
        <p:nvSpPr>
          <p:cNvPr id="9" name="Text 7"/>
          <p:cNvSpPr txBox="1"/>
          <p:nvPr/>
        </p:nvSpPr>
        <p:spPr>
          <a:xfrm>
            <a:off x="3200400" y="3566160"/>
            <a:ext cx="320040" cy="45720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74720" y="1920240"/>
            <a:ext cx="2697480" cy="3749040"/>
          </a:xfrm>
          <a:prstGeom prst="roundRect">
            <a:avLst>
              <a:gd name="adj" fmla="val 3390"/>
            </a:avLst>
          </a:prstGeom>
          <a:solidFill>
            <a:srgbClr val="F5F9FC"/>
          </a:solidFill>
          <a:ln/>
        </p:spPr>
        <p:txBody>
          <a:bodyPr/>
          <a:lstStyle/>
          <a:p>
            <a:endParaRPr lang="en-IN"/>
          </a:p>
        </p:txBody>
      </p:sp>
      <p:sp>
        <p:nvSpPr>
          <p:cNvPr id="11" name="Shape 9"/>
          <p:cNvSpPr/>
          <p:nvPr/>
        </p:nvSpPr>
        <p:spPr>
          <a:xfrm>
            <a:off x="3703320" y="2194560"/>
            <a:ext cx="640080" cy="640080"/>
          </a:xfrm>
          <a:prstGeom prst="ellipse">
            <a:avLst/>
          </a:prstGeom>
          <a:solidFill>
            <a:srgbClr val="1C7293"/>
          </a:solidFill>
          <a:ln/>
        </p:spPr>
        <p:txBody>
          <a:bodyPr/>
          <a:lstStyle/>
          <a:p>
            <a:endParaRPr lang="en-IN"/>
          </a:p>
        </p:txBody>
      </p:sp>
      <p:sp>
        <p:nvSpPr>
          <p:cNvPr id="12" name="Text 10"/>
          <p:cNvSpPr txBox="1"/>
          <p:nvPr/>
        </p:nvSpPr>
        <p:spPr>
          <a:xfrm>
            <a:off x="370332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3" name="Text 11"/>
          <p:cNvSpPr txBox="1"/>
          <p:nvPr/>
        </p:nvSpPr>
        <p:spPr>
          <a:xfrm>
            <a:off x="370332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Data Prep &amp; Exploration</a:t>
            </a:r>
            <a:endParaRPr lang="en-US" sz="1500" dirty="0"/>
          </a:p>
        </p:txBody>
      </p:sp>
      <p:sp>
        <p:nvSpPr>
          <p:cNvPr id="14" name="Text 12"/>
          <p:cNvSpPr txBox="1"/>
          <p:nvPr/>
        </p:nvSpPr>
        <p:spPr>
          <a:xfrm>
            <a:off x="370332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Design the schema, normalize it, load realistic sample data</a:t>
            </a:r>
            <a:endParaRPr lang="en-US" sz="1150" dirty="0"/>
          </a:p>
        </p:txBody>
      </p:sp>
      <p:sp>
        <p:nvSpPr>
          <p:cNvPr id="15" name="Text 13"/>
          <p:cNvSpPr txBox="1"/>
          <p:nvPr/>
        </p:nvSpPr>
        <p:spPr>
          <a:xfrm>
            <a:off x="6126480" y="3566160"/>
            <a:ext cx="320040" cy="45720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0" y="1920240"/>
            <a:ext cx="2697480" cy="3749040"/>
          </a:xfrm>
          <a:prstGeom prst="roundRect">
            <a:avLst>
              <a:gd name="adj" fmla="val 3390"/>
            </a:avLst>
          </a:prstGeom>
          <a:solidFill>
            <a:srgbClr val="F5F9FC"/>
          </a:solidFill>
          <a:ln/>
        </p:spPr>
        <p:txBody>
          <a:bodyPr/>
          <a:lstStyle/>
          <a:p>
            <a:endParaRPr lang="en-IN"/>
          </a:p>
        </p:txBody>
      </p:sp>
      <p:sp>
        <p:nvSpPr>
          <p:cNvPr id="17" name="Shape 15"/>
          <p:cNvSpPr/>
          <p:nvPr/>
        </p:nvSpPr>
        <p:spPr>
          <a:xfrm>
            <a:off x="6629400" y="2194560"/>
            <a:ext cx="640080" cy="640080"/>
          </a:xfrm>
          <a:prstGeom prst="ellipse">
            <a:avLst/>
          </a:prstGeom>
          <a:solidFill>
            <a:srgbClr val="0B3D5C"/>
          </a:solidFill>
          <a:ln/>
        </p:spPr>
        <p:txBody>
          <a:bodyPr/>
          <a:lstStyle/>
          <a:p>
            <a:endParaRPr lang="en-IN"/>
          </a:p>
        </p:txBody>
      </p:sp>
      <p:sp>
        <p:nvSpPr>
          <p:cNvPr id="18" name="Text 16"/>
          <p:cNvSpPr txBox="1"/>
          <p:nvPr/>
        </p:nvSpPr>
        <p:spPr>
          <a:xfrm>
            <a:off x="662940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9" name="Text 17"/>
          <p:cNvSpPr txBox="1"/>
          <p:nvPr/>
        </p:nvSpPr>
        <p:spPr>
          <a:xfrm>
            <a:off x="662940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Analytics &amp; Insights</a:t>
            </a:r>
            <a:endParaRPr lang="en-US" sz="1500" dirty="0"/>
          </a:p>
        </p:txBody>
      </p:sp>
      <p:sp>
        <p:nvSpPr>
          <p:cNvPr id="20" name="Text 18"/>
          <p:cNvSpPr txBox="1"/>
          <p:nvPr/>
        </p:nvSpPr>
        <p:spPr>
          <a:xfrm>
            <a:off x="662940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Joins, subqueries, GROUP BY, window functions, CTEs</a:t>
            </a:r>
            <a:endParaRPr lang="en-US" sz="1150" dirty="0"/>
          </a:p>
        </p:txBody>
      </p:sp>
      <p:sp>
        <p:nvSpPr>
          <p:cNvPr id="21" name="Text 19"/>
          <p:cNvSpPr txBox="1"/>
          <p:nvPr/>
        </p:nvSpPr>
        <p:spPr>
          <a:xfrm>
            <a:off x="9052560" y="3566160"/>
            <a:ext cx="320040" cy="45720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326880" y="1920240"/>
            <a:ext cx="2697480" cy="3749040"/>
          </a:xfrm>
          <a:prstGeom prst="roundRect">
            <a:avLst>
              <a:gd name="adj" fmla="val 3390"/>
            </a:avLst>
          </a:prstGeom>
          <a:solidFill>
            <a:srgbClr val="F5F9FC"/>
          </a:solidFill>
          <a:ln/>
        </p:spPr>
        <p:txBody>
          <a:bodyPr/>
          <a:lstStyle/>
          <a:p>
            <a:endParaRPr lang="en-IN"/>
          </a:p>
        </p:txBody>
      </p:sp>
      <p:sp>
        <p:nvSpPr>
          <p:cNvPr id="23" name="Shape 21"/>
          <p:cNvSpPr/>
          <p:nvPr/>
        </p:nvSpPr>
        <p:spPr>
          <a:xfrm>
            <a:off x="9555480" y="2194560"/>
            <a:ext cx="640080" cy="640080"/>
          </a:xfrm>
          <a:prstGeom prst="ellipse">
            <a:avLst/>
          </a:prstGeom>
          <a:solidFill>
            <a:srgbClr val="1C7293"/>
          </a:solidFill>
          <a:ln/>
        </p:spPr>
        <p:txBody>
          <a:bodyPr/>
          <a:lstStyle/>
          <a:p>
            <a:endParaRPr lang="en-IN"/>
          </a:p>
        </p:txBody>
      </p:sp>
      <p:sp>
        <p:nvSpPr>
          <p:cNvPr id="24" name="Text 22"/>
          <p:cNvSpPr txBox="1"/>
          <p:nvPr/>
        </p:nvSpPr>
        <p:spPr>
          <a:xfrm>
            <a:off x="955548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25" name="Text 23"/>
          <p:cNvSpPr txBox="1"/>
          <p:nvPr/>
        </p:nvSpPr>
        <p:spPr>
          <a:xfrm>
            <a:off x="955548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Visualization</a:t>
            </a:r>
            <a:endParaRPr lang="en-US" sz="1500" dirty="0"/>
          </a:p>
        </p:txBody>
      </p:sp>
      <p:sp>
        <p:nvSpPr>
          <p:cNvPr id="26" name="Text 24"/>
          <p:cNvSpPr txBox="1"/>
          <p:nvPr/>
        </p:nvSpPr>
        <p:spPr>
          <a:xfrm>
            <a:off x="955548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Views and query results ready to feed a dashboard</a:t>
            </a:r>
            <a:endParaRPr lang="en-US" sz="1150" dirty="0"/>
          </a:p>
        </p:txBody>
      </p:sp>
      <p:sp>
        <p:nvSpPr>
          <p:cNvPr id="27" name="Text 25"/>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01 · DEFINE QUESTIONS</a:t>
            </a:r>
            <a:endParaRPr lang="en-US" sz="1300" dirty="0"/>
          </a:p>
        </p:txBody>
      </p:sp>
      <p:sp>
        <p:nvSpPr>
          <p:cNvPr id="3" name="Text 1"/>
          <p:cNvSpPr txBox="1"/>
          <p:nvPr/>
        </p:nvSpPr>
        <p:spPr>
          <a:xfrm>
            <a:off x="548640" y="822960"/>
            <a:ext cx="10515600" cy="640080"/>
          </a:xfrm>
          <a:prstGeom prst="rect">
            <a:avLst/>
          </a:prstGeom>
          <a:noFill/>
          <a:ln/>
        </p:spPr>
        <p:txBody>
          <a:bodyPr wrap="square" lIns="0" tIns="0" rIns="0" bIns="0" rtlCol="0" anchor="ctr"/>
          <a:lstStyle/>
          <a:p>
            <a:pPr marL="0" indent="0">
              <a:buNone/>
            </a:pPr>
            <a:r>
              <a:rPr lang="en-US" sz="2700" b="1" dirty="0">
                <a:solidFill>
                  <a:srgbClr val="1A2733"/>
                </a:solidFill>
                <a:latin typeface="Cambria" pitchFamily="34" charset="0"/>
                <a:ea typeface="Cambria" pitchFamily="34" charset="-122"/>
                <a:cs typeface="Cambria" pitchFamily="34" charset="-120"/>
              </a:rPr>
              <a:t>The questions SkyBookDB needs to answer</a:t>
            </a:r>
            <a:endParaRPr lang="en-US" sz="2700" dirty="0"/>
          </a:p>
        </p:txBody>
      </p:sp>
      <p:sp>
        <p:nvSpPr>
          <p:cNvPr id="4" name="Shape 2"/>
          <p:cNvSpPr/>
          <p:nvPr/>
        </p:nvSpPr>
        <p:spPr>
          <a:xfrm>
            <a:off x="548640" y="1828800"/>
            <a:ext cx="457200" cy="457200"/>
          </a:xfrm>
          <a:prstGeom prst="roundRect">
            <a:avLst>
              <a:gd name="adj" fmla="val 16000"/>
            </a:avLst>
          </a:prstGeom>
          <a:solidFill>
            <a:srgbClr val="0B3D5C"/>
          </a:solidFill>
          <a:ln/>
        </p:spPr>
        <p:txBody>
          <a:bodyPr/>
          <a:lstStyle/>
          <a:p>
            <a:endParaRPr lang="en-IN"/>
          </a:p>
        </p:txBody>
      </p:sp>
      <p:sp>
        <p:nvSpPr>
          <p:cNvPr id="5" name="Text 3"/>
          <p:cNvSpPr txBox="1"/>
          <p:nvPr/>
        </p:nvSpPr>
        <p:spPr>
          <a:xfrm>
            <a:off x="54864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8470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Which flights and routes generate the most revenue?</a:t>
            </a:r>
            <a:endParaRPr lang="en-US" sz="1500" dirty="0"/>
          </a:p>
        </p:txBody>
      </p:sp>
      <p:sp>
        <p:nvSpPr>
          <p:cNvPr id="7" name="Shape 5"/>
          <p:cNvSpPr/>
          <p:nvPr/>
        </p:nvSpPr>
        <p:spPr>
          <a:xfrm>
            <a:off x="548640" y="2514600"/>
            <a:ext cx="457200" cy="457200"/>
          </a:xfrm>
          <a:prstGeom prst="roundRect">
            <a:avLst>
              <a:gd name="adj" fmla="val 16000"/>
            </a:avLst>
          </a:prstGeom>
          <a:solidFill>
            <a:srgbClr val="1C7293"/>
          </a:solidFill>
          <a:ln/>
        </p:spPr>
        <p:txBody>
          <a:bodyPr/>
          <a:lstStyle/>
          <a:p>
            <a:endParaRPr lang="en-IN"/>
          </a:p>
        </p:txBody>
      </p:sp>
      <p:sp>
        <p:nvSpPr>
          <p:cNvPr id="8" name="Text 6"/>
          <p:cNvSpPr txBox="1"/>
          <p:nvPr/>
        </p:nvSpPr>
        <p:spPr>
          <a:xfrm>
            <a:off x="548640"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25328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Who are the highest-spending passengers, and how do they rank?</a:t>
            </a:r>
            <a:endParaRPr lang="en-US" sz="1500" dirty="0"/>
          </a:p>
        </p:txBody>
      </p:sp>
      <p:sp>
        <p:nvSpPr>
          <p:cNvPr id="10" name="Shape 8"/>
          <p:cNvSpPr/>
          <p:nvPr/>
        </p:nvSpPr>
        <p:spPr>
          <a:xfrm>
            <a:off x="548640" y="3200400"/>
            <a:ext cx="457200" cy="457200"/>
          </a:xfrm>
          <a:prstGeom prst="roundRect">
            <a:avLst>
              <a:gd name="adj" fmla="val 16000"/>
            </a:avLst>
          </a:prstGeom>
          <a:solidFill>
            <a:srgbClr val="0B3D5C"/>
          </a:solidFill>
          <a:ln/>
        </p:spPr>
        <p:txBody>
          <a:bodyPr/>
          <a:lstStyle/>
          <a:p>
            <a:endParaRPr lang="en-IN"/>
          </a:p>
        </p:txBody>
      </p:sp>
      <p:sp>
        <p:nvSpPr>
          <p:cNvPr id="11" name="Text 9"/>
          <p:cNvSpPr txBox="1"/>
          <p:nvPr/>
        </p:nvSpPr>
        <p:spPr>
          <a:xfrm>
            <a:off x="548640" y="3200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88720" y="32186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How is revenue trending day over day — and what's the cumulative total?</a:t>
            </a:r>
            <a:endParaRPr lang="en-US" sz="1500" dirty="0"/>
          </a:p>
        </p:txBody>
      </p:sp>
      <p:sp>
        <p:nvSpPr>
          <p:cNvPr id="13" name="Shape 11"/>
          <p:cNvSpPr/>
          <p:nvPr/>
        </p:nvSpPr>
        <p:spPr>
          <a:xfrm>
            <a:off x="548640" y="3886200"/>
            <a:ext cx="457200" cy="457200"/>
          </a:xfrm>
          <a:prstGeom prst="roundRect">
            <a:avLst>
              <a:gd name="adj" fmla="val 16000"/>
            </a:avLst>
          </a:prstGeom>
          <a:solidFill>
            <a:srgbClr val="1C7293"/>
          </a:solidFill>
          <a:ln/>
        </p:spPr>
        <p:txBody>
          <a:bodyPr/>
          <a:lstStyle/>
          <a:p>
            <a:endParaRPr lang="en-IN"/>
          </a:p>
        </p:txBody>
      </p:sp>
      <p:sp>
        <p:nvSpPr>
          <p:cNvPr id="14" name="Text 12"/>
          <p:cNvSpPr txBox="1"/>
          <p:nvPr/>
        </p:nvSpPr>
        <p:spPr>
          <a:xfrm>
            <a:off x="548640" y="3886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88720" y="39044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Which payment methods do passengers actually use?</a:t>
            </a:r>
            <a:endParaRPr lang="en-US" sz="1500" dirty="0"/>
          </a:p>
        </p:txBody>
      </p:sp>
      <p:sp>
        <p:nvSpPr>
          <p:cNvPr id="16" name="Shape 14"/>
          <p:cNvSpPr/>
          <p:nvPr/>
        </p:nvSpPr>
        <p:spPr>
          <a:xfrm>
            <a:off x="548640" y="4572000"/>
            <a:ext cx="457200" cy="457200"/>
          </a:xfrm>
          <a:prstGeom prst="roundRect">
            <a:avLst>
              <a:gd name="adj" fmla="val 16000"/>
            </a:avLst>
          </a:prstGeom>
          <a:solidFill>
            <a:srgbClr val="0B3D5C"/>
          </a:solidFill>
          <a:ln/>
        </p:spPr>
        <p:txBody>
          <a:bodyPr/>
          <a:lstStyle/>
          <a:p>
            <a:endParaRPr lang="en-IN"/>
          </a:p>
        </p:txBody>
      </p:sp>
      <p:sp>
        <p:nvSpPr>
          <p:cNvPr id="17" name="Text 15"/>
          <p:cNvSpPr txBox="1"/>
          <p:nvPr/>
        </p:nvSpPr>
        <p:spPr>
          <a:xfrm>
            <a:off x="548640" y="4572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88720" y="45902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Which flights are under-booked or never booked at all?</a:t>
            </a:r>
            <a:endParaRPr lang="en-US" sz="1500" dirty="0"/>
          </a:p>
        </p:txBody>
      </p:sp>
      <p:sp>
        <p:nvSpPr>
          <p:cNvPr id="19" name="Shape 17"/>
          <p:cNvSpPr/>
          <p:nvPr/>
        </p:nvSpPr>
        <p:spPr>
          <a:xfrm>
            <a:off x="548640" y="5257800"/>
            <a:ext cx="457200" cy="457200"/>
          </a:xfrm>
          <a:prstGeom prst="roundRect">
            <a:avLst>
              <a:gd name="adj" fmla="val 16000"/>
            </a:avLst>
          </a:prstGeom>
          <a:solidFill>
            <a:srgbClr val="1C7293"/>
          </a:solidFill>
          <a:ln/>
        </p:spPr>
        <p:txBody>
          <a:bodyPr/>
          <a:lstStyle/>
          <a:p>
            <a:endParaRPr lang="en-IN"/>
          </a:p>
        </p:txBody>
      </p:sp>
      <p:sp>
        <p:nvSpPr>
          <p:cNvPr id="20" name="Text 18"/>
          <p:cNvSpPr txBox="1"/>
          <p:nvPr/>
        </p:nvSpPr>
        <p:spPr>
          <a:xfrm>
            <a:off x="548640" y="5257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9"/>
          <p:cNvSpPr txBox="1"/>
          <p:nvPr/>
        </p:nvSpPr>
        <p:spPr>
          <a:xfrm>
            <a:off x="1188720" y="52760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How does each flight's fare compare to the one before it on the calendar?</a:t>
            </a:r>
            <a:endParaRPr lang="en-US" sz="1500" dirty="0"/>
          </a:p>
        </p:txBody>
      </p:sp>
      <p:sp>
        <p:nvSpPr>
          <p:cNvPr id="22" name="Text 20"/>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02 · DATA PREP &amp; EXPLORATION</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700" b="1" dirty="0">
                <a:solidFill>
                  <a:srgbClr val="1A2733"/>
                </a:solidFill>
                <a:latin typeface="Cambria" pitchFamily="34" charset="0"/>
                <a:ea typeface="Cambria" pitchFamily="34" charset="-122"/>
                <a:cs typeface="Cambria" pitchFamily="34" charset="-120"/>
              </a:rPr>
              <a:t>Schema: five tables, four relationships</a:t>
            </a:r>
            <a:endParaRPr lang="en-US" sz="2700" dirty="0"/>
          </a:p>
        </p:txBody>
      </p:sp>
      <p:sp>
        <p:nvSpPr>
          <p:cNvPr id="4" name="Shape 2"/>
          <p:cNvSpPr/>
          <p:nvPr/>
        </p:nvSpPr>
        <p:spPr>
          <a:xfrm>
            <a:off x="457200" y="1828800"/>
            <a:ext cx="2148840" cy="457200"/>
          </a:xfrm>
          <a:prstGeom prst="roundRect">
            <a:avLst>
              <a:gd name="adj" fmla="val 12000"/>
            </a:avLst>
          </a:prstGeom>
          <a:solidFill>
            <a:srgbClr val="0B3D5C"/>
          </a:solidFill>
          <a:ln/>
        </p:spPr>
        <p:txBody>
          <a:bodyPr/>
          <a:lstStyle/>
          <a:p>
            <a:endParaRPr lang="en-IN"/>
          </a:p>
        </p:txBody>
      </p:sp>
      <p:sp>
        <p:nvSpPr>
          <p:cNvPr id="5" name="Text 3"/>
          <p:cNvSpPr txBox="1"/>
          <p:nvPr/>
        </p:nvSpPr>
        <p:spPr>
          <a:xfrm>
            <a:off x="457200" y="1828800"/>
            <a:ext cx="21488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Airports</a:t>
            </a:r>
            <a:endParaRPr lang="en-US" sz="1300" dirty="0"/>
          </a:p>
        </p:txBody>
      </p:sp>
      <p:sp>
        <p:nvSpPr>
          <p:cNvPr id="6" name="Shape 4"/>
          <p:cNvSpPr/>
          <p:nvPr/>
        </p:nvSpPr>
        <p:spPr>
          <a:xfrm>
            <a:off x="457200" y="2286000"/>
            <a:ext cx="2148840" cy="1161288"/>
          </a:xfrm>
          <a:prstGeom prst="roundRect">
            <a:avLst>
              <a:gd name="adj" fmla="val 4724"/>
            </a:avLst>
          </a:prstGeom>
          <a:solidFill>
            <a:srgbClr val="F5F9FC"/>
          </a:solidFill>
          <a:ln w="9525">
            <a:solidFill>
              <a:srgbClr val="D8E2E8"/>
            </a:solidFill>
            <a:prstDash val="solid"/>
          </a:ln>
        </p:spPr>
        <p:txBody>
          <a:bodyPr/>
          <a:lstStyle/>
          <a:p>
            <a:endParaRPr lang="en-IN"/>
          </a:p>
        </p:txBody>
      </p:sp>
      <p:sp>
        <p:nvSpPr>
          <p:cNvPr id="7" name="Text 5"/>
          <p:cNvSpPr txBox="1"/>
          <p:nvPr/>
        </p:nvSpPr>
        <p:spPr>
          <a:xfrm>
            <a:off x="566928" y="2359152"/>
            <a:ext cx="1929384" cy="1024128"/>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Airport_Code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Airport_Name</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City</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Country</a:t>
            </a:r>
            <a:endParaRPr lang="en-US" sz="1050" dirty="0"/>
          </a:p>
        </p:txBody>
      </p:sp>
      <p:sp>
        <p:nvSpPr>
          <p:cNvPr id="8" name="Shape 6"/>
          <p:cNvSpPr/>
          <p:nvPr/>
        </p:nvSpPr>
        <p:spPr>
          <a:xfrm>
            <a:off x="3017520" y="1234440"/>
            <a:ext cx="2331720" cy="457200"/>
          </a:xfrm>
          <a:prstGeom prst="roundRect">
            <a:avLst>
              <a:gd name="adj" fmla="val 12000"/>
            </a:avLst>
          </a:prstGeom>
          <a:solidFill>
            <a:srgbClr val="1C7293"/>
          </a:solidFill>
          <a:ln/>
        </p:spPr>
        <p:txBody>
          <a:bodyPr/>
          <a:lstStyle/>
          <a:p>
            <a:endParaRPr lang="en-IN"/>
          </a:p>
        </p:txBody>
      </p:sp>
      <p:sp>
        <p:nvSpPr>
          <p:cNvPr id="9" name="Text 7"/>
          <p:cNvSpPr txBox="1"/>
          <p:nvPr/>
        </p:nvSpPr>
        <p:spPr>
          <a:xfrm>
            <a:off x="3017520" y="1234440"/>
            <a:ext cx="23317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Flights</a:t>
            </a:r>
            <a:endParaRPr lang="en-US" sz="1300" dirty="0"/>
          </a:p>
        </p:txBody>
      </p:sp>
      <p:sp>
        <p:nvSpPr>
          <p:cNvPr id="10" name="Shape 8"/>
          <p:cNvSpPr/>
          <p:nvPr/>
        </p:nvSpPr>
        <p:spPr>
          <a:xfrm>
            <a:off x="3017520" y="1691640"/>
            <a:ext cx="2331720" cy="1161288"/>
          </a:xfrm>
          <a:prstGeom prst="roundRect">
            <a:avLst>
              <a:gd name="adj" fmla="val 4724"/>
            </a:avLst>
          </a:prstGeom>
          <a:solidFill>
            <a:srgbClr val="F5F9FC"/>
          </a:solidFill>
          <a:ln w="9525">
            <a:solidFill>
              <a:srgbClr val="D8E2E8"/>
            </a:solidFill>
            <a:prstDash val="solid"/>
          </a:ln>
        </p:spPr>
        <p:txBody>
          <a:bodyPr/>
          <a:lstStyle/>
          <a:p>
            <a:endParaRPr lang="en-IN"/>
          </a:p>
        </p:txBody>
      </p:sp>
      <p:sp>
        <p:nvSpPr>
          <p:cNvPr id="11" name="Text 9"/>
          <p:cNvSpPr txBox="1"/>
          <p:nvPr/>
        </p:nvSpPr>
        <p:spPr>
          <a:xfrm>
            <a:off x="3127248" y="1764792"/>
            <a:ext cx="2112264" cy="1024128"/>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Flight_ID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Origin_Code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Destination_Code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Airline, Fare, Times</a:t>
            </a:r>
            <a:endParaRPr lang="en-US" sz="1050" dirty="0"/>
          </a:p>
        </p:txBody>
      </p:sp>
      <p:sp>
        <p:nvSpPr>
          <p:cNvPr id="12" name="Shape 10"/>
          <p:cNvSpPr/>
          <p:nvPr/>
        </p:nvSpPr>
        <p:spPr>
          <a:xfrm>
            <a:off x="5806440" y="1828800"/>
            <a:ext cx="2148840" cy="457200"/>
          </a:xfrm>
          <a:prstGeom prst="roundRect">
            <a:avLst>
              <a:gd name="adj" fmla="val 12000"/>
            </a:avLst>
          </a:prstGeom>
          <a:solidFill>
            <a:srgbClr val="0B3D5C"/>
          </a:solidFill>
          <a:ln/>
        </p:spPr>
        <p:txBody>
          <a:bodyPr/>
          <a:lstStyle/>
          <a:p>
            <a:endParaRPr lang="en-IN"/>
          </a:p>
        </p:txBody>
      </p:sp>
      <p:sp>
        <p:nvSpPr>
          <p:cNvPr id="13" name="Text 11"/>
          <p:cNvSpPr txBox="1"/>
          <p:nvPr/>
        </p:nvSpPr>
        <p:spPr>
          <a:xfrm>
            <a:off x="5806440" y="1828800"/>
            <a:ext cx="21488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Passengers</a:t>
            </a:r>
            <a:endParaRPr lang="en-US" sz="1300" dirty="0"/>
          </a:p>
        </p:txBody>
      </p:sp>
      <p:sp>
        <p:nvSpPr>
          <p:cNvPr id="14" name="Shape 12"/>
          <p:cNvSpPr/>
          <p:nvPr/>
        </p:nvSpPr>
        <p:spPr>
          <a:xfrm>
            <a:off x="5806440" y="2286000"/>
            <a:ext cx="2148840" cy="905256"/>
          </a:xfrm>
          <a:prstGeom prst="roundRect">
            <a:avLst>
              <a:gd name="adj" fmla="val 6061"/>
            </a:avLst>
          </a:prstGeom>
          <a:solidFill>
            <a:srgbClr val="F5F9FC"/>
          </a:solidFill>
          <a:ln w="9525">
            <a:solidFill>
              <a:srgbClr val="D8E2E8"/>
            </a:solidFill>
            <a:prstDash val="solid"/>
          </a:ln>
        </p:spPr>
        <p:txBody>
          <a:bodyPr/>
          <a:lstStyle/>
          <a:p>
            <a:endParaRPr lang="en-IN"/>
          </a:p>
        </p:txBody>
      </p:sp>
      <p:sp>
        <p:nvSpPr>
          <p:cNvPr id="15" name="Text 13"/>
          <p:cNvSpPr txBox="1"/>
          <p:nvPr/>
        </p:nvSpPr>
        <p:spPr>
          <a:xfrm>
            <a:off x="5916168" y="2359152"/>
            <a:ext cx="1929384" cy="768096"/>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Passenger_ID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Name, Age, Gender</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Contact, Email</a:t>
            </a:r>
            <a:endParaRPr lang="en-US" sz="1050" dirty="0"/>
          </a:p>
        </p:txBody>
      </p:sp>
      <p:sp>
        <p:nvSpPr>
          <p:cNvPr id="16" name="Shape 14"/>
          <p:cNvSpPr/>
          <p:nvPr/>
        </p:nvSpPr>
        <p:spPr>
          <a:xfrm>
            <a:off x="3017520" y="3931920"/>
            <a:ext cx="2331720" cy="457200"/>
          </a:xfrm>
          <a:prstGeom prst="roundRect">
            <a:avLst>
              <a:gd name="adj" fmla="val 12000"/>
            </a:avLst>
          </a:prstGeom>
          <a:solidFill>
            <a:srgbClr val="F4A300"/>
          </a:solidFill>
          <a:ln/>
        </p:spPr>
        <p:txBody>
          <a:bodyPr/>
          <a:lstStyle/>
          <a:p>
            <a:endParaRPr lang="en-IN"/>
          </a:p>
        </p:txBody>
      </p:sp>
      <p:sp>
        <p:nvSpPr>
          <p:cNvPr id="17" name="Text 15"/>
          <p:cNvSpPr txBox="1"/>
          <p:nvPr/>
        </p:nvSpPr>
        <p:spPr>
          <a:xfrm>
            <a:off x="3017520" y="3931920"/>
            <a:ext cx="23317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Bookings</a:t>
            </a:r>
            <a:endParaRPr lang="en-US" sz="1300" dirty="0"/>
          </a:p>
        </p:txBody>
      </p:sp>
      <p:sp>
        <p:nvSpPr>
          <p:cNvPr id="18" name="Shape 16"/>
          <p:cNvSpPr/>
          <p:nvPr/>
        </p:nvSpPr>
        <p:spPr>
          <a:xfrm>
            <a:off x="3017520" y="4389120"/>
            <a:ext cx="2331720" cy="1161288"/>
          </a:xfrm>
          <a:prstGeom prst="roundRect">
            <a:avLst>
              <a:gd name="adj" fmla="val 4724"/>
            </a:avLst>
          </a:prstGeom>
          <a:solidFill>
            <a:srgbClr val="F5F9FC"/>
          </a:solidFill>
          <a:ln w="9525">
            <a:solidFill>
              <a:srgbClr val="D8E2E8"/>
            </a:solidFill>
            <a:prstDash val="solid"/>
          </a:ln>
        </p:spPr>
        <p:txBody>
          <a:bodyPr/>
          <a:lstStyle/>
          <a:p>
            <a:endParaRPr lang="en-IN"/>
          </a:p>
        </p:txBody>
      </p:sp>
      <p:sp>
        <p:nvSpPr>
          <p:cNvPr id="19" name="Text 17"/>
          <p:cNvSpPr txBox="1"/>
          <p:nvPr/>
        </p:nvSpPr>
        <p:spPr>
          <a:xfrm>
            <a:off x="3127248" y="4462272"/>
            <a:ext cx="2112264" cy="1024128"/>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Booking_ID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Passenger_ID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Flight_ID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Seat_Class, Status</a:t>
            </a:r>
            <a:endParaRPr lang="en-US" sz="1050" dirty="0"/>
          </a:p>
        </p:txBody>
      </p:sp>
      <p:sp>
        <p:nvSpPr>
          <p:cNvPr id="20" name="Shape 18"/>
          <p:cNvSpPr/>
          <p:nvPr/>
        </p:nvSpPr>
        <p:spPr>
          <a:xfrm>
            <a:off x="6035040" y="3931920"/>
            <a:ext cx="2148840" cy="457200"/>
          </a:xfrm>
          <a:prstGeom prst="roundRect">
            <a:avLst>
              <a:gd name="adj" fmla="val 12000"/>
            </a:avLst>
          </a:prstGeom>
          <a:solidFill>
            <a:srgbClr val="1C7293"/>
          </a:solidFill>
          <a:ln/>
        </p:spPr>
        <p:txBody>
          <a:bodyPr/>
          <a:lstStyle/>
          <a:p>
            <a:endParaRPr lang="en-IN"/>
          </a:p>
        </p:txBody>
      </p:sp>
      <p:sp>
        <p:nvSpPr>
          <p:cNvPr id="21" name="Text 19"/>
          <p:cNvSpPr txBox="1"/>
          <p:nvPr/>
        </p:nvSpPr>
        <p:spPr>
          <a:xfrm>
            <a:off x="6035040" y="3931920"/>
            <a:ext cx="21488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Payments</a:t>
            </a:r>
            <a:endParaRPr lang="en-US" sz="1300" dirty="0"/>
          </a:p>
        </p:txBody>
      </p:sp>
      <p:sp>
        <p:nvSpPr>
          <p:cNvPr id="22" name="Shape 20"/>
          <p:cNvSpPr/>
          <p:nvPr/>
        </p:nvSpPr>
        <p:spPr>
          <a:xfrm>
            <a:off x="6035040" y="4389120"/>
            <a:ext cx="2148840" cy="905256"/>
          </a:xfrm>
          <a:prstGeom prst="roundRect">
            <a:avLst>
              <a:gd name="adj" fmla="val 6061"/>
            </a:avLst>
          </a:prstGeom>
          <a:solidFill>
            <a:srgbClr val="F5F9FC"/>
          </a:solidFill>
          <a:ln w="9525">
            <a:solidFill>
              <a:srgbClr val="D8E2E8"/>
            </a:solidFill>
            <a:prstDash val="solid"/>
          </a:ln>
        </p:spPr>
        <p:txBody>
          <a:bodyPr/>
          <a:lstStyle/>
          <a:p>
            <a:endParaRPr lang="en-IN"/>
          </a:p>
        </p:txBody>
      </p:sp>
      <p:sp>
        <p:nvSpPr>
          <p:cNvPr id="23" name="Text 21"/>
          <p:cNvSpPr txBox="1"/>
          <p:nvPr/>
        </p:nvSpPr>
        <p:spPr>
          <a:xfrm>
            <a:off x="6144768" y="4462272"/>
            <a:ext cx="1929384" cy="768096"/>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Payment_ID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Booking_ID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Amount, Method, Status</a:t>
            </a:r>
            <a:endParaRPr lang="en-US" sz="1050" dirty="0"/>
          </a:p>
        </p:txBody>
      </p:sp>
      <p:sp>
        <p:nvSpPr>
          <p:cNvPr id="24" name="Shape 22"/>
          <p:cNvSpPr/>
          <p:nvPr/>
        </p:nvSpPr>
        <p:spPr>
          <a:xfrm>
            <a:off x="2606040" y="1737360"/>
            <a:ext cx="411480" cy="320040"/>
          </a:xfrm>
          <a:prstGeom prst="line">
            <a:avLst/>
          </a:prstGeom>
          <a:noFill/>
          <a:ln w="19050">
            <a:solidFill>
              <a:srgbClr val="9FB8C8"/>
            </a:solidFill>
            <a:prstDash val="solid"/>
          </a:ln>
        </p:spPr>
        <p:txBody>
          <a:bodyPr/>
          <a:lstStyle/>
          <a:p>
            <a:endParaRPr lang="en-IN"/>
          </a:p>
        </p:txBody>
      </p:sp>
      <p:sp>
        <p:nvSpPr>
          <p:cNvPr id="25" name="Shape 23"/>
          <p:cNvSpPr/>
          <p:nvPr/>
        </p:nvSpPr>
        <p:spPr>
          <a:xfrm>
            <a:off x="2606040" y="2377440"/>
            <a:ext cx="411480" cy="274320"/>
          </a:xfrm>
          <a:prstGeom prst="line">
            <a:avLst/>
          </a:prstGeom>
          <a:noFill/>
          <a:ln w="19050">
            <a:solidFill>
              <a:srgbClr val="9FB8C8"/>
            </a:solidFill>
            <a:prstDash val="solid"/>
          </a:ln>
        </p:spPr>
        <p:txBody>
          <a:bodyPr/>
          <a:lstStyle/>
          <a:p>
            <a:endParaRPr lang="en-IN"/>
          </a:p>
        </p:txBody>
      </p:sp>
      <p:sp>
        <p:nvSpPr>
          <p:cNvPr id="26" name="Shape 24"/>
          <p:cNvSpPr/>
          <p:nvPr/>
        </p:nvSpPr>
        <p:spPr>
          <a:xfrm>
            <a:off x="5349240" y="1737360"/>
            <a:ext cx="457200" cy="320040"/>
          </a:xfrm>
          <a:prstGeom prst="line">
            <a:avLst/>
          </a:prstGeom>
          <a:noFill/>
          <a:ln w="19050">
            <a:solidFill>
              <a:srgbClr val="9FB8C8"/>
            </a:solidFill>
            <a:prstDash val="solid"/>
          </a:ln>
        </p:spPr>
        <p:txBody>
          <a:bodyPr/>
          <a:lstStyle/>
          <a:p>
            <a:endParaRPr lang="en-IN"/>
          </a:p>
        </p:txBody>
      </p:sp>
      <p:sp>
        <p:nvSpPr>
          <p:cNvPr id="27" name="Shape 25"/>
          <p:cNvSpPr/>
          <p:nvPr/>
        </p:nvSpPr>
        <p:spPr>
          <a:xfrm>
            <a:off x="4114800" y="2651760"/>
            <a:ext cx="0" cy="1280160"/>
          </a:xfrm>
          <a:prstGeom prst="line">
            <a:avLst/>
          </a:prstGeom>
          <a:noFill/>
          <a:ln w="19050">
            <a:solidFill>
              <a:srgbClr val="9FB8C8"/>
            </a:solidFill>
            <a:prstDash val="solid"/>
          </a:ln>
        </p:spPr>
        <p:txBody>
          <a:bodyPr/>
          <a:lstStyle/>
          <a:p>
            <a:endParaRPr lang="en-IN"/>
          </a:p>
        </p:txBody>
      </p:sp>
      <p:sp>
        <p:nvSpPr>
          <p:cNvPr id="28" name="Shape 26"/>
          <p:cNvSpPr/>
          <p:nvPr/>
        </p:nvSpPr>
        <p:spPr>
          <a:xfrm>
            <a:off x="5349240" y="2377440"/>
            <a:ext cx="960120" cy="1737360"/>
          </a:xfrm>
          <a:prstGeom prst="line">
            <a:avLst/>
          </a:prstGeom>
          <a:noFill/>
          <a:ln w="19050">
            <a:solidFill>
              <a:srgbClr val="9FB8C8"/>
            </a:solidFill>
            <a:prstDash val="solid"/>
          </a:ln>
        </p:spPr>
        <p:txBody>
          <a:bodyPr/>
          <a:lstStyle/>
          <a:p>
            <a:endParaRPr lang="en-IN"/>
          </a:p>
        </p:txBody>
      </p:sp>
      <p:sp>
        <p:nvSpPr>
          <p:cNvPr id="29" name="Shape 27"/>
          <p:cNvSpPr/>
          <p:nvPr/>
        </p:nvSpPr>
        <p:spPr>
          <a:xfrm>
            <a:off x="5349240" y="4297680"/>
            <a:ext cx="685800" cy="182880"/>
          </a:xfrm>
          <a:prstGeom prst="line">
            <a:avLst/>
          </a:prstGeom>
          <a:noFill/>
          <a:ln w="19050">
            <a:solidFill>
              <a:srgbClr val="9FB8C8"/>
            </a:solidFill>
            <a:prstDash val="solid"/>
          </a:ln>
        </p:spPr>
        <p:txBody>
          <a:bodyPr/>
          <a:lstStyle/>
          <a:p>
            <a:endParaRPr lang="en-IN"/>
          </a:p>
        </p:txBody>
      </p:sp>
      <p:sp>
        <p:nvSpPr>
          <p:cNvPr id="30" name="Text 28"/>
          <p:cNvSpPr txBox="1"/>
          <p:nvPr/>
        </p:nvSpPr>
        <p:spPr>
          <a:xfrm>
            <a:off x="457200" y="6263640"/>
            <a:ext cx="11247120" cy="320040"/>
          </a:xfrm>
          <a:prstGeom prst="rect">
            <a:avLst/>
          </a:prstGeom>
          <a:noFill/>
          <a:ln/>
        </p:spPr>
        <p:txBody>
          <a:bodyPr wrap="square" lIns="0" tIns="0" rIns="0" bIns="0" rtlCol="0" anchor="ctr"/>
          <a:lstStyle/>
          <a:p>
            <a:pPr marL="0" indent="0">
              <a:buNone/>
            </a:pPr>
            <a:r>
              <a:rPr lang="en-US" sz="1150" b="1" dirty="0">
                <a:solidFill>
                  <a:srgbClr val="F4A300"/>
                </a:solidFill>
                <a:latin typeface="Calibri" pitchFamily="34" charset="0"/>
                <a:ea typeface="Calibri" pitchFamily="34" charset="-122"/>
                <a:cs typeface="Calibri" pitchFamily="34" charset="-120"/>
              </a:rPr>
              <a:t>1:M  </a:t>
            </a:r>
            <a:r>
              <a:rPr lang="en-US" sz="1150" dirty="0">
                <a:solidFill>
                  <a:srgbClr val="5C7080"/>
                </a:solidFill>
                <a:latin typeface="Calibri" pitchFamily="34" charset="0"/>
                <a:ea typeface="Calibri" pitchFamily="34" charset="-122"/>
                <a:cs typeface="Calibri" pitchFamily="34" charset="-120"/>
              </a:rPr>
              <a:t>Airport → Flights (origin &amp; destination)   </a:t>
            </a:r>
            <a:r>
              <a:rPr lang="en-US" sz="1150" b="1" dirty="0">
                <a:solidFill>
                  <a:srgbClr val="F4A300"/>
                </a:solidFill>
                <a:latin typeface="Calibri" pitchFamily="34" charset="0"/>
                <a:ea typeface="Calibri" pitchFamily="34" charset="-122"/>
                <a:cs typeface="Calibri" pitchFamily="34" charset="-120"/>
              </a:rPr>
              <a:t>1:M  </a:t>
            </a:r>
            <a:r>
              <a:rPr lang="en-US" sz="1150" dirty="0">
                <a:solidFill>
                  <a:srgbClr val="5C7080"/>
                </a:solidFill>
                <a:latin typeface="Calibri" pitchFamily="34" charset="0"/>
                <a:ea typeface="Calibri" pitchFamily="34" charset="-122"/>
                <a:cs typeface="Calibri" pitchFamily="34" charset="-120"/>
              </a:rPr>
              <a:t>Passenger → Bookings   </a:t>
            </a:r>
            <a:r>
              <a:rPr lang="en-US" sz="1150" b="1" dirty="0">
                <a:solidFill>
                  <a:srgbClr val="F4A300"/>
                </a:solidFill>
                <a:latin typeface="Calibri" pitchFamily="34" charset="0"/>
                <a:ea typeface="Calibri" pitchFamily="34" charset="-122"/>
                <a:cs typeface="Calibri" pitchFamily="34" charset="-120"/>
              </a:rPr>
              <a:t>1:1  </a:t>
            </a:r>
            <a:r>
              <a:rPr lang="en-US" sz="1150" dirty="0">
                <a:solidFill>
                  <a:srgbClr val="5C7080"/>
                </a:solidFill>
                <a:latin typeface="Calibri" pitchFamily="34" charset="0"/>
                <a:ea typeface="Calibri" pitchFamily="34" charset="-122"/>
                <a:cs typeface="Calibri" pitchFamily="34" charset="-120"/>
              </a:rPr>
              <a:t>Booking → Payment</a:t>
            </a:r>
            <a:endParaRPr lang="en-US" sz="1150" dirty="0"/>
          </a:p>
        </p:txBody>
      </p:sp>
      <p:sp>
        <p:nvSpPr>
          <p:cNvPr id="31" name="Text 29"/>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D5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03 · ANALYTICS &amp; INSIGHTS</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Every core SQL technique, put to work</a:t>
            </a:r>
            <a:endParaRPr lang="en-US" sz="2700" dirty="0"/>
          </a:p>
        </p:txBody>
      </p:sp>
      <p:sp>
        <p:nvSpPr>
          <p:cNvPr id="4" name="Shape 2"/>
          <p:cNvSpPr/>
          <p:nvPr/>
        </p:nvSpPr>
        <p:spPr>
          <a:xfrm>
            <a:off x="548640" y="1920240"/>
            <a:ext cx="2697480" cy="1965960"/>
          </a:xfrm>
          <a:prstGeom prst="roundRect">
            <a:avLst>
              <a:gd name="adj" fmla="val 3721"/>
            </a:avLst>
          </a:prstGeom>
          <a:solidFill>
            <a:srgbClr val="0F4C6B"/>
          </a:solidFill>
          <a:ln/>
        </p:spPr>
        <p:txBody>
          <a:bodyPr/>
          <a:lstStyle/>
          <a:p>
            <a:endParaRPr lang="en-IN"/>
          </a:p>
        </p:txBody>
      </p:sp>
      <p:sp>
        <p:nvSpPr>
          <p:cNvPr id="5" name="Shape 3"/>
          <p:cNvSpPr/>
          <p:nvPr/>
        </p:nvSpPr>
        <p:spPr>
          <a:xfrm>
            <a:off x="731520" y="2103120"/>
            <a:ext cx="411480" cy="411480"/>
          </a:xfrm>
          <a:prstGeom prst="ellipse">
            <a:avLst/>
          </a:prstGeom>
          <a:solidFill>
            <a:srgbClr val="F4A300"/>
          </a:solidFill>
          <a:ln/>
        </p:spPr>
        <p:txBody>
          <a:bodyPr/>
          <a:lstStyle/>
          <a:p>
            <a:endParaRPr lang="en-IN"/>
          </a:p>
        </p:txBody>
      </p:sp>
      <p:sp>
        <p:nvSpPr>
          <p:cNvPr id="6" name="Text 4"/>
          <p:cNvSpPr txBox="1"/>
          <p:nvPr/>
        </p:nvSpPr>
        <p:spPr>
          <a:xfrm>
            <a:off x="73152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Filtering &amp; Sorting</a:t>
            </a:r>
            <a:endParaRPr lang="en-US" sz="1350" dirty="0"/>
          </a:p>
        </p:txBody>
      </p:sp>
      <p:sp>
        <p:nvSpPr>
          <p:cNvPr id="7" name="Text 5"/>
          <p:cNvSpPr txBox="1"/>
          <p:nvPr/>
        </p:nvSpPr>
        <p:spPr>
          <a:xfrm>
            <a:off x="73152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WHERE, ORDER BY, LIMIT — top fares, recent bookings</a:t>
            </a:r>
            <a:endParaRPr lang="en-US" sz="1050" dirty="0"/>
          </a:p>
        </p:txBody>
      </p:sp>
      <p:sp>
        <p:nvSpPr>
          <p:cNvPr id="8" name="Shape 6"/>
          <p:cNvSpPr/>
          <p:nvPr/>
        </p:nvSpPr>
        <p:spPr>
          <a:xfrm>
            <a:off x="3383280" y="1920240"/>
            <a:ext cx="2697480" cy="1965960"/>
          </a:xfrm>
          <a:prstGeom prst="roundRect">
            <a:avLst>
              <a:gd name="adj" fmla="val 3721"/>
            </a:avLst>
          </a:prstGeom>
          <a:solidFill>
            <a:srgbClr val="0F4C6B"/>
          </a:solidFill>
          <a:ln/>
        </p:spPr>
        <p:txBody>
          <a:bodyPr/>
          <a:lstStyle/>
          <a:p>
            <a:endParaRPr lang="en-IN"/>
          </a:p>
        </p:txBody>
      </p:sp>
      <p:sp>
        <p:nvSpPr>
          <p:cNvPr id="9" name="Shape 7"/>
          <p:cNvSpPr/>
          <p:nvPr/>
        </p:nvSpPr>
        <p:spPr>
          <a:xfrm>
            <a:off x="3566160" y="2103120"/>
            <a:ext cx="411480" cy="411480"/>
          </a:xfrm>
          <a:prstGeom prst="ellipse">
            <a:avLst/>
          </a:prstGeom>
          <a:solidFill>
            <a:srgbClr val="F4A300"/>
          </a:solidFill>
          <a:ln/>
        </p:spPr>
        <p:txBody>
          <a:bodyPr/>
          <a:lstStyle/>
          <a:p>
            <a:endParaRPr lang="en-IN"/>
          </a:p>
        </p:txBody>
      </p:sp>
      <p:sp>
        <p:nvSpPr>
          <p:cNvPr id="10" name="Text 8"/>
          <p:cNvSpPr txBox="1"/>
          <p:nvPr/>
        </p:nvSpPr>
        <p:spPr>
          <a:xfrm>
            <a:off x="356616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Multi-table Joins</a:t>
            </a:r>
            <a:endParaRPr lang="en-US" sz="1350" dirty="0"/>
          </a:p>
        </p:txBody>
      </p:sp>
      <p:sp>
        <p:nvSpPr>
          <p:cNvPr id="11" name="Text 9"/>
          <p:cNvSpPr txBox="1"/>
          <p:nvPr/>
        </p:nvSpPr>
        <p:spPr>
          <a:xfrm>
            <a:off x="356616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3-table joins linking passengers, flights, and payments</a:t>
            </a:r>
            <a:endParaRPr lang="en-US" sz="1050" dirty="0"/>
          </a:p>
        </p:txBody>
      </p:sp>
      <p:sp>
        <p:nvSpPr>
          <p:cNvPr id="12" name="Shape 10"/>
          <p:cNvSpPr/>
          <p:nvPr/>
        </p:nvSpPr>
        <p:spPr>
          <a:xfrm>
            <a:off x="6217920" y="1920240"/>
            <a:ext cx="2697480" cy="1965960"/>
          </a:xfrm>
          <a:prstGeom prst="roundRect">
            <a:avLst>
              <a:gd name="adj" fmla="val 3721"/>
            </a:avLst>
          </a:prstGeom>
          <a:solidFill>
            <a:srgbClr val="0F4C6B"/>
          </a:solidFill>
          <a:ln/>
        </p:spPr>
        <p:txBody>
          <a:bodyPr/>
          <a:lstStyle/>
          <a:p>
            <a:endParaRPr lang="en-IN"/>
          </a:p>
        </p:txBody>
      </p:sp>
      <p:sp>
        <p:nvSpPr>
          <p:cNvPr id="13" name="Shape 11"/>
          <p:cNvSpPr/>
          <p:nvPr/>
        </p:nvSpPr>
        <p:spPr>
          <a:xfrm>
            <a:off x="6400800" y="2103120"/>
            <a:ext cx="411480" cy="411480"/>
          </a:xfrm>
          <a:prstGeom prst="ellipse">
            <a:avLst/>
          </a:prstGeom>
          <a:solidFill>
            <a:srgbClr val="F4A300"/>
          </a:solidFill>
          <a:ln/>
        </p:spPr>
        <p:txBody>
          <a:bodyPr/>
          <a:lstStyle/>
          <a:p>
            <a:endParaRPr lang="en-IN"/>
          </a:p>
        </p:txBody>
      </p:sp>
      <p:sp>
        <p:nvSpPr>
          <p:cNvPr id="14" name="Text 12"/>
          <p:cNvSpPr txBox="1"/>
          <p:nvPr/>
        </p:nvSpPr>
        <p:spPr>
          <a:xfrm>
            <a:off x="640080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Subqueries</a:t>
            </a:r>
            <a:endParaRPr lang="en-US" sz="1350" dirty="0"/>
          </a:p>
        </p:txBody>
      </p:sp>
      <p:sp>
        <p:nvSpPr>
          <p:cNvPr id="15" name="Text 13"/>
          <p:cNvSpPr txBox="1"/>
          <p:nvPr/>
        </p:nvSpPr>
        <p:spPr>
          <a:xfrm>
            <a:off x="640080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Payments above the average; flights with zero bookings</a:t>
            </a:r>
            <a:endParaRPr lang="en-US" sz="1050" dirty="0"/>
          </a:p>
        </p:txBody>
      </p:sp>
      <p:sp>
        <p:nvSpPr>
          <p:cNvPr id="16" name="Shape 14"/>
          <p:cNvSpPr/>
          <p:nvPr/>
        </p:nvSpPr>
        <p:spPr>
          <a:xfrm>
            <a:off x="9052560" y="1920240"/>
            <a:ext cx="2697480" cy="1965960"/>
          </a:xfrm>
          <a:prstGeom prst="roundRect">
            <a:avLst>
              <a:gd name="adj" fmla="val 3721"/>
            </a:avLst>
          </a:prstGeom>
          <a:solidFill>
            <a:srgbClr val="0F4C6B"/>
          </a:solidFill>
          <a:ln/>
        </p:spPr>
        <p:txBody>
          <a:bodyPr/>
          <a:lstStyle/>
          <a:p>
            <a:endParaRPr lang="en-IN"/>
          </a:p>
        </p:txBody>
      </p:sp>
      <p:sp>
        <p:nvSpPr>
          <p:cNvPr id="17" name="Shape 15"/>
          <p:cNvSpPr/>
          <p:nvPr/>
        </p:nvSpPr>
        <p:spPr>
          <a:xfrm>
            <a:off x="9235440" y="2103120"/>
            <a:ext cx="411480" cy="411480"/>
          </a:xfrm>
          <a:prstGeom prst="ellipse">
            <a:avLst/>
          </a:prstGeom>
          <a:solidFill>
            <a:srgbClr val="F4A300"/>
          </a:solidFill>
          <a:ln/>
        </p:spPr>
        <p:txBody>
          <a:bodyPr/>
          <a:lstStyle/>
          <a:p>
            <a:endParaRPr lang="en-IN"/>
          </a:p>
        </p:txBody>
      </p:sp>
      <p:sp>
        <p:nvSpPr>
          <p:cNvPr id="18" name="Text 16"/>
          <p:cNvSpPr txBox="1"/>
          <p:nvPr/>
        </p:nvSpPr>
        <p:spPr>
          <a:xfrm>
            <a:off x="923544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Aggregation</a:t>
            </a:r>
            <a:endParaRPr lang="en-US" sz="1350" dirty="0"/>
          </a:p>
        </p:txBody>
      </p:sp>
      <p:sp>
        <p:nvSpPr>
          <p:cNvPr id="19" name="Text 17"/>
          <p:cNvSpPr txBox="1"/>
          <p:nvPr/>
        </p:nvSpPr>
        <p:spPr>
          <a:xfrm>
            <a:off x="923544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GROUP BY, HAVING — revenue and booking counts per group</a:t>
            </a:r>
            <a:endParaRPr lang="en-US" sz="1050" dirty="0"/>
          </a:p>
        </p:txBody>
      </p:sp>
      <p:sp>
        <p:nvSpPr>
          <p:cNvPr id="20" name="Shape 18"/>
          <p:cNvSpPr/>
          <p:nvPr/>
        </p:nvSpPr>
        <p:spPr>
          <a:xfrm>
            <a:off x="548640" y="4069080"/>
            <a:ext cx="2697480" cy="1965960"/>
          </a:xfrm>
          <a:prstGeom prst="roundRect">
            <a:avLst>
              <a:gd name="adj" fmla="val 3721"/>
            </a:avLst>
          </a:prstGeom>
          <a:solidFill>
            <a:srgbClr val="0F4C6B"/>
          </a:solidFill>
          <a:ln/>
        </p:spPr>
        <p:txBody>
          <a:bodyPr/>
          <a:lstStyle/>
          <a:p>
            <a:endParaRPr lang="en-IN"/>
          </a:p>
        </p:txBody>
      </p:sp>
      <p:sp>
        <p:nvSpPr>
          <p:cNvPr id="21" name="Shape 19"/>
          <p:cNvSpPr/>
          <p:nvPr/>
        </p:nvSpPr>
        <p:spPr>
          <a:xfrm>
            <a:off x="731520" y="4251960"/>
            <a:ext cx="411480" cy="411480"/>
          </a:xfrm>
          <a:prstGeom prst="ellipse">
            <a:avLst/>
          </a:prstGeom>
          <a:solidFill>
            <a:srgbClr val="F4A300"/>
          </a:solidFill>
          <a:ln/>
        </p:spPr>
        <p:txBody>
          <a:bodyPr/>
          <a:lstStyle/>
          <a:p>
            <a:endParaRPr lang="en-IN"/>
          </a:p>
        </p:txBody>
      </p:sp>
      <p:sp>
        <p:nvSpPr>
          <p:cNvPr id="22" name="Text 20"/>
          <p:cNvSpPr txBox="1"/>
          <p:nvPr/>
        </p:nvSpPr>
        <p:spPr>
          <a:xfrm>
            <a:off x="73152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Window Functions</a:t>
            </a:r>
            <a:endParaRPr lang="en-US" sz="1350" dirty="0"/>
          </a:p>
        </p:txBody>
      </p:sp>
      <p:sp>
        <p:nvSpPr>
          <p:cNvPr id="23" name="Text 21"/>
          <p:cNvSpPr txBox="1"/>
          <p:nvPr/>
        </p:nvSpPr>
        <p:spPr>
          <a:xfrm>
            <a:off x="73152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RANK, ROW_NUMBER, LAG, NTILE, running &amp; moving totals</a:t>
            </a:r>
            <a:endParaRPr lang="en-US" sz="1050" dirty="0"/>
          </a:p>
        </p:txBody>
      </p:sp>
      <p:sp>
        <p:nvSpPr>
          <p:cNvPr id="24" name="Shape 22"/>
          <p:cNvSpPr/>
          <p:nvPr/>
        </p:nvSpPr>
        <p:spPr>
          <a:xfrm>
            <a:off x="3383280" y="4069080"/>
            <a:ext cx="2697480" cy="1965960"/>
          </a:xfrm>
          <a:prstGeom prst="roundRect">
            <a:avLst>
              <a:gd name="adj" fmla="val 3721"/>
            </a:avLst>
          </a:prstGeom>
          <a:solidFill>
            <a:srgbClr val="0F4C6B"/>
          </a:solidFill>
          <a:ln/>
        </p:spPr>
        <p:txBody>
          <a:bodyPr/>
          <a:lstStyle/>
          <a:p>
            <a:endParaRPr lang="en-IN"/>
          </a:p>
        </p:txBody>
      </p:sp>
      <p:sp>
        <p:nvSpPr>
          <p:cNvPr id="25" name="Shape 23"/>
          <p:cNvSpPr/>
          <p:nvPr/>
        </p:nvSpPr>
        <p:spPr>
          <a:xfrm>
            <a:off x="3566160" y="4251960"/>
            <a:ext cx="411480" cy="411480"/>
          </a:xfrm>
          <a:prstGeom prst="ellipse">
            <a:avLst/>
          </a:prstGeom>
          <a:solidFill>
            <a:srgbClr val="F4A300"/>
          </a:solidFill>
          <a:ln/>
        </p:spPr>
        <p:txBody>
          <a:bodyPr/>
          <a:lstStyle/>
          <a:p>
            <a:endParaRPr lang="en-IN"/>
          </a:p>
        </p:txBody>
      </p:sp>
      <p:sp>
        <p:nvSpPr>
          <p:cNvPr id="26" name="Text 24"/>
          <p:cNvSpPr txBox="1"/>
          <p:nvPr/>
        </p:nvSpPr>
        <p:spPr>
          <a:xfrm>
            <a:off x="356616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CTEs</a:t>
            </a:r>
            <a:endParaRPr lang="en-US" sz="1350" dirty="0"/>
          </a:p>
        </p:txBody>
      </p:sp>
      <p:sp>
        <p:nvSpPr>
          <p:cNvPr id="27" name="Text 25"/>
          <p:cNvSpPr txBox="1"/>
          <p:nvPr/>
        </p:nvSpPr>
        <p:spPr>
          <a:xfrm>
            <a:off x="356616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WITH clauses for readable multi-step spend analysis</a:t>
            </a:r>
            <a:endParaRPr lang="en-US" sz="1050" dirty="0"/>
          </a:p>
        </p:txBody>
      </p:sp>
      <p:sp>
        <p:nvSpPr>
          <p:cNvPr id="28" name="Shape 26"/>
          <p:cNvSpPr/>
          <p:nvPr/>
        </p:nvSpPr>
        <p:spPr>
          <a:xfrm>
            <a:off x="6217920" y="4069080"/>
            <a:ext cx="2697480" cy="1965960"/>
          </a:xfrm>
          <a:prstGeom prst="roundRect">
            <a:avLst>
              <a:gd name="adj" fmla="val 3721"/>
            </a:avLst>
          </a:prstGeom>
          <a:solidFill>
            <a:srgbClr val="0F4C6B"/>
          </a:solidFill>
          <a:ln/>
        </p:spPr>
        <p:txBody>
          <a:bodyPr/>
          <a:lstStyle/>
          <a:p>
            <a:endParaRPr lang="en-IN"/>
          </a:p>
        </p:txBody>
      </p:sp>
      <p:sp>
        <p:nvSpPr>
          <p:cNvPr id="29" name="Shape 27"/>
          <p:cNvSpPr/>
          <p:nvPr/>
        </p:nvSpPr>
        <p:spPr>
          <a:xfrm>
            <a:off x="6400800" y="4251960"/>
            <a:ext cx="411480" cy="411480"/>
          </a:xfrm>
          <a:prstGeom prst="ellipse">
            <a:avLst/>
          </a:prstGeom>
          <a:solidFill>
            <a:srgbClr val="F4A300"/>
          </a:solidFill>
          <a:ln/>
        </p:spPr>
        <p:txBody>
          <a:bodyPr/>
          <a:lstStyle/>
          <a:p>
            <a:endParaRPr lang="en-IN"/>
          </a:p>
        </p:txBody>
      </p:sp>
      <p:sp>
        <p:nvSpPr>
          <p:cNvPr id="30" name="Text 28"/>
          <p:cNvSpPr txBox="1"/>
          <p:nvPr/>
        </p:nvSpPr>
        <p:spPr>
          <a:xfrm>
            <a:off x="640080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Indexes</a:t>
            </a:r>
            <a:endParaRPr lang="en-US" sz="1350" dirty="0"/>
          </a:p>
        </p:txBody>
      </p:sp>
      <p:sp>
        <p:nvSpPr>
          <p:cNvPr id="31" name="Text 29"/>
          <p:cNvSpPr txBox="1"/>
          <p:nvPr/>
        </p:nvSpPr>
        <p:spPr>
          <a:xfrm>
            <a:off x="640080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Single-column and unique indexes for faster lookups</a:t>
            </a:r>
            <a:endParaRPr lang="en-US" sz="1050" dirty="0"/>
          </a:p>
        </p:txBody>
      </p:sp>
      <p:sp>
        <p:nvSpPr>
          <p:cNvPr id="32" name="Shape 30"/>
          <p:cNvSpPr/>
          <p:nvPr/>
        </p:nvSpPr>
        <p:spPr>
          <a:xfrm>
            <a:off x="9052560" y="4069080"/>
            <a:ext cx="2697480" cy="1965960"/>
          </a:xfrm>
          <a:prstGeom prst="roundRect">
            <a:avLst>
              <a:gd name="adj" fmla="val 3721"/>
            </a:avLst>
          </a:prstGeom>
          <a:solidFill>
            <a:srgbClr val="0F4C6B"/>
          </a:solidFill>
          <a:ln/>
        </p:spPr>
        <p:txBody>
          <a:bodyPr/>
          <a:lstStyle/>
          <a:p>
            <a:endParaRPr lang="en-IN"/>
          </a:p>
        </p:txBody>
      </p:sp>
      <p:sp>
        <p:nvSpPr>
          <p:cNvPr id="33" name="Shape 31"/>
          <p:cNvSpPr/>
          <p:nvPr/>
        </p:nvSpPr>
        <p:spPr>
          <a:xfrm>
            <a:off x="9235440" y="4251960"/>
            <a:ext cx="411480" cy="411480"/>
          </a:xfrm>
          <a:prstGeom prst="ellipse">
            <a:avLst/>
          </a:prstGeom>
          <a:solidFill>
            <a:srgbClr val="F4A300"/>
          </a:solidFill>
          <a:ln/>
        </p:spPr>
        <p:txBody>
          <a:bodyPr/>
          <a:lstStyle/>
          <a:p>
            <a:endParaRPr lang="en-IN"/>
          </a:p>
        </p:txBody>
      </p:sp>
      <p:sp>
        <p:nvSpPr>
          <p:cNvPr id="34" name="Text 32"/>
          <p:cNvSpPr txBox="1"/>
          <p:nvPr/>
        </p:nvSpPr>
        <p:spPr>
          <a:xfrm>
            <a:off x="923544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Views</a:t>
            </a:r>
            <a:endParaRPr lang="en-US" sz="1350" dirty="0"/>
          </a:p>
        </p:txBody>
      </p:sp>
      <p:sp>
        <p:nvSpPr>
          <p:cNvPr id="35" name="Text 33"/>
          <p:cNvSpPr txBox="1"/>
          <p:nvPr/>
        </p:nvSpPr>
        <p:spPr>
          <a:xfrm>
            <a:off x="923544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Reusable virtual tables for high-value payments &amp; revenue</a:t>
            </a:r>
            <a:endParaRPr lang="en-US" sz="1050" dirty="0"/>
          </a:p>
        </p:txBody>
      </p:sp>
      <p:sp>
        <p:nvSpPr>
          <p:cNvPr id="36" name="Text 34"/>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9FB8C8"/>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SPOTLIGHT</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700" b="1" dirty="0">
                <a:solidFill>
                  <a:srgbClr val="1A2733"/>
                </a:solidFill>
                <a:latin typeface="Cambria" pitchFamily="34" charset="0"/>
                <a:ea typeface="Cambria" pitchFamily="34" charset="-122"/>
                <a:cs typeface="Cambria" pitchFamily="34" charset="-120"/>
              </a:rPr>
              <a:t>Window functions: the differentiator</a:t>
            </a:r>
            <a:endParaRPr lang="en-US" sz="2700" dirty="0"/>
          </a:p>
        </p:txBody>
      </p:sp>
      <p:sp>
        <p:nvSpPr>
          <p:cNvPr id="4" name="Text 2"/>
          <p:cNvSpPr txBox="1"/>
          <p:nvPr/>
        </p:nvSpPr>
        <p:spPr>
          <a:xfrm>
            <a:off x="548640" y="1417320"/>
            <a:ext cx="10515600" cy="457200"/>
          </a:xfrm>
          <a:prstGeom prst="rect">
            <a:avLst/>
          </a:prstGeom>
          <a:noFill/>
          <a:ln/>
        </p:spPr>
        <p:txBody>
          <a:bodyPr wrap="square" lIns="0" tIns="0" rIns="0" bIns="0" rtlCol="0" anchor="ctr"/>
          <a:lstStyle/>
          <a:p>
            <a:pPr marL="0" indent="0">
              <a:buNone/>
            </a:pPr>
            <a:r>
              <a:rPr lang="en-US" sz="1300" dirty="0">
                <a:solidFill>
                  <a:srgbClr val="5C7080"/>
                </a:solidFill>
                <a:latin typeface="Calibri" pitchFamily="34" charset="0"/>
                <a:ea typeface="Calibri" pitchFamily="34" charset="-122"/>
                <a:cs typeface="Calibri" pitchFamily="34" charset="-120"/>
              </a:rPr>
              <a:t>Unlike GROUP BY, a window function keeps every row while still calculating across a related set — perfect for rankings, running totals, and row-to-row comparisons.</a:t>
            </a:r>
            <a:endParaRPr lang="en-US" sz="1300" dirty="0"/>
          </a:p>
        </p:txBody>
      </p:sp>
      <p:sp>
        <p:nvSpPr>
          <p:cNvPr id="5" name="Shape 3"/>
          <p:cNvSpPr/>
          <p:nvPr/>
        </p:nvSpPr>
        <p:spPr>
          <a:xfrm>
            <a:off x="548640" y="21488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6" name="Shape 4"/>
          <p:cNvSpPr/>
          <p:nvPr/>
        </p:nvSpPr>
        <p:spPr>
          <a:xfrm>
            <a:off x="548640" y="2148840"/>
            <a:ext cx="64008" cy="1417320"/>
          </a:xfrm>
          <a:prstGeom prst="rect">
            <a:avLst/>
          </a:prstGeom>
          <a:solidFill>
            <a:srgbClr val="1C7293"/>
          </a:solidFill>
          <a:ln/>
        </p:spPr>
        <p:txBody>
          <a:bodyPr/>
          <a:lstStyle/>
          <a:p>
            <a:endParaRPr lang="en-IN"/>
          </a:p>
        </p:txBody>
      </p:sp>
      <p:sp>
        <p:nvSpPr>
          <p:cNvPr id="7" name="Text 5"/>
          <p:cNvSpPr txBox="1"/>
          <p:nvPr/>
        </p:nvSpPr>
        <p:spPr>
          <a:xfrm>
            <a:off x="777240" y="22860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SUM() OVER</a:t>
            </a:r>
            <a:endParaRPr lang="en-US" sz="1400" dirty="0"/>
          </a:p>
        </p:txBody>
      </p:sp>
      <p:sp>
        <p:nvSpPr>
          <p:cNvPr id="8" name="Text 6"/>
          <p:cNvSpPr txBox="1"/>
          <p:nvPr/>
        </p:nvSpPr>
        <p:spPr>
          <a:xfrm>
            <a:off x="777240" y="28620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Cumulative revenue, day by day (Q12)</a:t>
            </a:r>
            <a:endParaRPr lang="en-US" sz="1100" dirty="0"/>
          </a:p>
        </p:txBody>
      </p:sp>
      <p:sp>
        <p:nvSpPr>
          <p:cNvPr id="9" name="Shape 7"/>
          <p:cNvSpPr/>
          <p:nvPr/>
        </p:nvSpPr>
        <p:spPr>
          <a:xfrm>
            <a:off x="4297680" y="21488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10" name="Shape 8"/>
          <p:cNvSpPr/>
          <p:nvPr/>
        </p:nvSpPr>
        <p:spPr>
          <a:xfrm>
            <a:off x="4297680" y="2148840"/>
            <a:ext cx="64008" cy="1417320"/>
          </a:xfrm>
          <a:prstGeom prst="rect">
            <a:avLst/>
          </a:prstGeom>
          <a:solidFill>
            <a:srgbClr val="1C7293"/>
          </a:solidFill>
          <a:ln/>
        </p:spPr>
        <p:txBody>
          <a:bodyPr/>
          <a:lstStyle/>
          <a:p>
            <a:endParaRPr lang="en-IN"/>
          </a:p>
        </p:txBody>
      </p:sp>
      <p:sp>
        <p:nvSpPr>
          <p:cNvPr id="11" name="Text 9"/>
          <p:cNvSpPr txBox="1"/>
          <p:nvPr/>
        </p:nvSpPr>
        <p:spPr>
          <a:xfrm>
            <a:off x="4526280" y="22860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RANK()</a:t>
            </a:r>
            <a:endParaRPr lang="en-US" sz="1400" dirty="0"/>
          </a:p>
        </p:txBody>
      </p:sp>
      <p:sp>
        <p:nvSpPr>
          <p:cNvPr id="12" name="Text 10"/>
          <p:cNvSpPr txBox="1"/>
          <p:nvPr/>
        </p:nvSpPr>
        <p:spPr>
          <a:xfrm>
            <a:off x="4526280" y="28620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Rank passengers by total spend — ties share a rank (Q21)</a:t>
            </a:r>
            <a:endParaRPr lang="en-US" sz="1100" dirty="0"/>
          </a:p>
        </p:txBody>
      </p:sp>
      <p:sp>
        <p:nvSpPr>
          <p:cNvPr id="13" name="Shape 11"/>
          <p:cNvSpPr/>
          <p:nvPr/>
        </p:nvSpPr>
        <p:spPr>
          <a:xfrm>
            <a:off x="8046720" y="21488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14" name="Shape 12"/>
          <p:cNvSpPr/>
          <p:nvPr/>
        </p:nvSpPr>
        <p:spPr>
          <a:xfrm>
            <a:off x="8046720" y="2148840"/>
            <a:ext cx="64008" cy="1417320"/>
          </a:xfrm>
          <a:prstGeom prst="rect">
            <a:avLst/>
          </a:prstGeom>
          <a:solidFill>
            <a:srgbClr val="1C7293"/>
          </a:solidFill>
          <a:ln/>
        </p:spPr>
        <p:txBody>
          <a:bodyPr/>
          <a:lstStyle/>
          <a:p>
            <a:endParaRPr lang="en-IN"/>
          </a:p>
        </p:txBody>
      </p:sp>
      <p:sp>
        <p:nvSpPr>
          <p:cNvPr id="15" name="Text 13"/>
          <p:cNvSpPr txBox="1"/>
          <p:nvPr/>
        </p:nvSpPr>
        <p:spPr>
          <a:xfrm>
            <a:off x="8275320" y="22860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ROW_NUMBER()</a:t>
            </a:r>
            <a:endParaRPr lang="en-US" sz="1400" dirty="0"/>
          </a:p>
          <a:p>
            <a:pPr marL="0" indent="0">
              <a:buNone/>
            </a:pPr>
            <a:r>
              <a:rPr lang="en-US" sz="1400" b="1" dirty="0">
                <a:solidFill>
                  <a:srgbClr val="0B3D5C"/>
                </a:solidFill>
                <a:latin typeface="Consolas" pitchFamily="34" charset="0"/>
                <a:ea typeface="Consolas" pitchFamily="34" charset="-122"/>
                <a:cs typeface="Consolas" pitchFamily="34" charset="-120"/>
              </a:rPr>
              <a:t>+ PARTITION BY</a:t>
            </a:r>
            <a:endParaRPr lang="en-US" sz="1400" dirty="0"/>
          </a:p>
        </p:txBody>
      </p:sp>
      <p:sp>
        <p:nvSpPr>
          <p:cNvPr id="16" name="Text 14"/>
          <p:cNvSpPr txBox="1"/>
          <p:nvPr/>
        </p:nvSpPr>
        <p:spPr>
          <a:xfrm>
            <a:off x="8275320" y="28620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Number each passenger's own bookings in order (Q22)</a:t>
            </a:r>
            <a:endParaRPr lang="en-US" sz="1100" dirty="0"/>
          </a:p>
        </p:txBody>
      </p:sp>
      <p:sp>
        <p:nvSpPr>
          <p:cNvPr id="17" name="Shape 15"/>
          <p:cNvSpPr/>
          <p:nvPr/>
        </p:nvSpPr>
        <p:spPr>
          <a:xfrm>
            <a:off x="548640" y="37490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18" name="Shape 16"/>
          <p:cNvSpPr/>
          <p:nvPr/>
        </p:nvSpPr>
        <p:spPr>
          <a:xfrm>
            <a:off x="548640" y="3749040"/>
            <a:ext cx="64008" cy="1417320"/>
          </a:xfrm>
          <a:prstGeom prst="rect">
            <a:avLst/>
          </a:prstGeom>
          <a:solidFill>
            <a:srgbClr val="1C7293"/>
          </a:solidFill>
          <a:ln/>
        </p:spPr>
        <p:txBody>
          <a:bodyPr/>
          <a:lstStyle/>
          <a:p>
            <a:endParaRPr lang="en-IN"/>
          </a:p>
        </p:txBody>
      </p:sp>
      <p:sp>
        <p:nvSpPr>
          <p:cNvPr id="19" name="Text 17"/>
          <p:cNvSpPr txBox="1"/>
          <p:nvPr/>
        </p:nvSpPr>
        <p:spPr>
          <a:xfrm>
            <a:off x="777240" y="38862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LAG()</a:t>
            </a:r>
            <a:endParaRPr lang="en-US" sz="1400" dirty="0"/>
          </a:p>
        </p:txBody>
      </p:sp>
      <p:sp>
        <p:nvSpPr>
          <p:cNvPr id="20" name="Text 18"/>
          <p:cNvSpPr txBox="1"/>
          <p:nvPr/>
        </p:nvSpPr>
        <p:spPr>
          <a:xfrm>
            <a:off x="777240" y="44622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Compare each flight's fare to the previous flight's (Q23)</a:t>
            </a:r>
            <a:endParaRPr lang="en-US" sz="1100" dirty="0"/>
          </a:p>
        </p:txBody>
      </p:sp>
      <p:sp>
        <p:nvSpPr>
          <p:cNvPr id="21" name="Shape 19"/>
          <p:cNvSpPr/>
          <p:nvPr/>
        </p:nvSpPr>
        <p:spPr>
          <a:xfrm>
            <a:off x="4297680" y="37490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22" name="Shape 20"/>
          <p:cNvSpPr/>
          <p:nvPr/>
        </p:nvSpPr>
        <p:spPr>
          <a:xfrm>
            <a:off x="4297680" y="3749040"/>
            <a:ext cx="64008" cy="1417320"/>
          </a:xfrm>
          <a:prstGeom prst="rect">
            <a:avLst/>
          </a:prstGeom>
          <a:solidFill>
            <a:srgbClr val="1C7293"/>
          </a:solidFill>
          <a:ln/>
        </p:spPr>
        <p:txBody>
          <a:bodyPr/>
          <a:lstStyle/>
          <a:p>
            <a:endParaRPr lang="en-IN"/>
          </a:p>
        </p:txBody>
      </p:sp>
      <p:sp>
        <p:nvSpPr>
          <p:cNvPr id="23" name="Text 21"/>
          <p:cNvSpPr txBox="1"/>
          <p:nvPr/>
        </p:nvSpPr>
        <p:spPr>
          <a:xfrm>
            <a:off x="4526280" y="38862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AVG() OVER</a:t>
            </a:r>
            <a:endParaRPr lang="en-US" sz="1400" dirty="0"/>
          </a:p>
          <a:p>
            <a:pPr marL="0" indent="0">
              <a:buNone/>
            </a:pPr>
            <a:r>
              <a:rPr lang="en-US" sz="1400" b="1" dirty="0">
                <a:solidFill>
                  <a:srgbClr val="0B3D5C"/>
                </a:solidFill>
                <a:latin typeface="Consolas" pitchFamily="34" charset="0"/>
                <a:ea typeface="Consolas" pitchFamily="34" charset="-122"/>
                <a:cs typeface="Consolas" pitchFamily="34" charset="-120"/>
              </a:rPr>
              <a:t>(ROWS frame)</a:t>
            </a:r>
            <a:endParaRPr lang="en-US" sz="1400" dirty="0"/>
          </a:p>
        </p:txBody>
      </p:sp>
      <p:sp>
        <p:nvSpPr>
          <p:cNvPr id="24" name="Text 22"/>
          <p:cNvSpPr txBox="1"/>
          <p:nvPr/>
        </p:nvSpPr>
        <p:spPr>
          <a:xfrm>
            <a:off x="4526280" y="44622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3-day moving average of daily revenue (Q24)</a:t>
            </a:r>
            <a:endParaRPr lang="en-US" sz="1100" dirty="0"/>
          </a:p>
        </p:txBody>
      </p:sp>
      <p:sp>
        <p:nvSpPr>
          <p:cNvPr id="25" name="Shape 23"/>
          <p:cNvSpPr/>
          <p:nvPr/>
        </p:nvSpPr>
        <p:spPr>
          <a:xfrm>
            <a:off x="8046720" y="37490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26" name="Shape 24"/>
          <p:cNvSpPr/>
          <p:nvPr/>
        </p:nvSpPr>
        <p:spPr>
          <a:xfrm>
            <a:off x="8046720" y="3749040"/>
            <a:ext cx="64008" cy="1417320"/>
          </a:xfrm>
          <a:prstGeom prst="rect">
            <a:avLst/>
          </a:prstGeom>
          <a:solidFill>
            <a:srgbClr val="1C7293"/>
          </a:solidFill>
          <a:ln/>
        </p:spPr>
        <p:txBody>
          <a:bodyPr/>
          <a:lstStyle/>
          <a:p>
            <a:endParaRPr lang="en-IN"/>
          </a:p>
        </p:txBody>
      </p:sp>
      <p:sp>
        <p:nvSpPr>
          <p:cNvPr id="27" name="Text 25"/>
          <p:cNvSpPr txBox="1"/>
          <p:nvPr/>
        </p:nvSpPr>
        <p:spPr>
          <a:xfrm>
            <a:off x="8275320" y="38862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NTILE(4)</a:t>
            </a:r>
            <a:endParaRPr lang="en-US" sz="1400" dirty="0"/>
          </a:p>
        </p:txBody>
      </p:sp>
      <p:sp>
        <p:nvSpPr>
          <p:cNvPr id="28" name="Text 26"/>
          <p:cNvSpPr txBox="1"/>
          <p:nvPr/>
        </p:nvSpPr>
        <p:spPr>
          <a:xfrm>
            <a:off x="8275320" y="44622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Split flights into fare quartiles (Q25)</a:t>
            </a:r>
            <a:endParaRPr lang="en-US" sz="1100" dirty="0"/>
          </a:p>
        </p:txBody>
      </p:sp>
      <p:sp>
        <p:nvSpPr>
          <p:cNvPr id="29" name="Text 27"/>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INSIGHT</a:t>
            </a:r>
            <a:endParaRPr lang="en-US" sz="1300" dirty="0"/>
          </a:p>
        </p:txBody>
      </p:sp>
      <p:sp>
        <p:nvSpPr>
          <p:cNvPr id="3" name="Text 1"/>
          <p:cNvSpPr txBox="1"/>
          <p:nvPr/>
        </p:nvSpPr>
        <p:spPr>
          <a:xfrm>
            <a:off x="548640" y="822960"/>
            <a:ext cx="10515600" cy="548640"/>
          </a:xfrm>
          <a:prstGeom prst="rect">
            <a:avLst/>
          </a:prstGeom>
          <a:noFill/>
          <a:ln/>
        </p:spPr>
        <p:txBody>
          <a:bodyPr wrap="square" lIns="0" tIns="0" rIns="0" bIns="0" rtlCol="0" anchor="ctr"/>
          <a:lstStyle/>
          <a:p>
            <a:pPr marL="0" indent="0">
              <a:buNone/>
            </a:pPr>
            <a:r>
              <a:rPr lang="en-US" sz="2500" b="1" dirty="0">
                <a:solidFill>
                  <a:srgbClr val="1A2733"/>
                </a:solidFill>
                <a:latin typeface="Cambria" pitchFamily="34" charset="0"/>
                <a:ea typeface="Cambria" pitchFamily="34" charset="-122"/>
                <a:cs typeface="Cambria" pitchFamily="34" charset="-120"/>
              </a:rPr>
              <a:t>Vistara leads on total revenue, SpiceJet trails</a:t>
            </a:r>
            <a:endParaRPr lang="en-US" sz="2500" dirty="0"/>
          </a:p>
        </p:txBody>
      </p:sp>
      <p:graphicFrame>
        <p:nvGraphicFramePr>
          <p:cNvPr id="4" name="Chart 0"/>
          <p:cNvGraphicFramePr/>
          <p:nvPr/>
        </p:nvGraphicFramePr>
        <p:xfrm>
          <a:off x="548640" y="1645920"/>
          <a:ext cx="64008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269480" y="1645920"/>
            <a:ext cx="4389120" cy="4389120"/>
          </a:xfrm>
          <a:prstGeom prst="roundRect">
            <a:avLst>
              <a:gd name="adj" fmla="val 2083"/>
            </a:avLst>
          </a:prstGeom>
          <a:solidFill>
            <a:srgbClr val="0B3D5C"/>
          </a:solidFill>
          <a:ln/>
        </p:spPr>
        <p:txBody>
          <a:bodyPr/>
          <a:lstStyle/>
          <a:p>
            <a:endParaRPr lang="en-IN"/>
          </a:p>
        </p:txBody>
      </p:sp>
      <p:sp>
        <p:nvSpPr>
          <p:cNvPr id="6" name="Text 3"/>
          <p:cNvSpPr txBox="1"/>
          <p:nvPr/>
        </p:nvSpPr>
        <p:spPr>
          <a:xfrm>
            <a:off x="7589520" y="1920240"/>
            <a:ext cx="3749040" cy="320040"/>
          </a:xfrm>
          <a:prstGeom prst="rect">
            <a:avLst/>
          </a:prstGeom>
          <a:noFill/>
          <a:ln/>
        </p:spPr>
        <p:txBody>
          <a:bodyPr wrap="square" lIns="0" tIns="0" rIns="0" bIns="0" rtlCol="0" anchor="ctr"/>
          <a:lstStyle/>
          <a:p>
            <a:pPr marL="0" indent="0">
              <a:buNone/>
            </a:pPr>
            <a:r>
              <a:rPr lang="en-US" sz="1100" b="1" kern="0" spc="150" dirty="0">
                <a:solidFill>
                  <a:srgbClr val="F4A300"/>
                </a:solidFill>
                <a:latin typeface="Calibri" pitchFamily="34" charset="0"/>
                <a:ea typeface="Calibri" pitchFamily="34" charset="-122"/>
                <a:cs typeface="Calibri" pitchFamily="34" charset="-120"/>
              </a:rPr>
              <a:t>FROM QUERY Q17 / Q30</a:t>
            </a:r>
            <a:endParaRPr lang="en-US" sz="1100" dirty="0"/>
          </a:p>
        </p:txBody>
      </p:sp>
      <p:sp>
        <p:nvSpPr>
          <p:cNvPr id="7" name="Text 4"/>
          <p:cNvSpPr txBox="1"/>
          <p:nvPr/>
        </p:nvSpPr>
        <p:spPr>
          <a:xfrm>
            <a:off x="7589520" y="2377440"/>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Vistara: ₹35,150</a:t>
            </a:r>
            <a:endParaRPr lang="en-US" sz="1700" dirty="0"/>
          </a:p>
        </p:txBody>
      </p:sp>
      <p:sp>
        <p:nvSpPr>
          <p:cNvPr id="8" name="Text 5"/>
          <p:cNvSpPr txBox="1"/>
          <p:nvPr/>
        </p:nvSpPr>
        <p:spPr>
          <a:xfrm>
            <a:off x="7589520" y="2834640"/>
            <a:ext cx="3749040" cy="91440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Highest-earning airline across all confirmed bookings, driven by its Delhi–Bengaluru and Hyderabad–Mumbai routes.</a:t>
            </a:r>
            <a:endParaRPr lang="en-US" sz="1150" dirty="0"/>
          </a:p>
        </p:txBody>
      </p:sp>
      <p:sp>
        <p:nvSpPr>
          <p:cNvPr id="9" name="Shape 6"/>
          <p:cNvSpPr/>
          <p:nvPr/>
        </p:nvSpPr>
        <p:spPr>
          <a:xfrm>
            <a:off x="7589520" y="3931920"/>
            <a:ext cx="3749040" cy="0"/>
          </a:xfrm>
          <a:prstGeom prst="line">
            <a:avLst/>
          </a:prstGeom>
          <a:noFill/>
          <a:ln w="12700">
            <a:solidFill>
              <a:srgbClr val="2C6E8F"/>
            </a:solidFill>
            <a:prstDash val="solid"/>
          </a:ln>
        </p:spPr>
        <p:txBody>
          <a:bodyPr/>
          <a:lstStyle/>
          <a:p>
            <a:endParaRPr lang="en-IN"/>
          </a:p>
        </p:txBody>
      </p:sp>
      <p:sp>
        <p:nvSpPr>
          <p:cNvPr id="10" name="Text 7"/>
          <p:cNvSpPr txBox="1"/>
          <p:nvPr/>
        </p:nvSpPr>
        <p:spPr>
          <a:xfrm>
            <a:off x="7589520" y="4114800"/>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SpiceJet: ₹18,600</a:t>
            </a:r>
            <a:endParaRPr lang="en-US" sz="1700" dirty="0"/>
          </a:p>
        </p:txBody>
      </p:sp>
      <p:sp>
        <p:nvSpPr>
          <p:cNvPr id="11" name="Text 8"/>
          <p:cNvSpPr txBox="1"/>
          <p:nvPr/>
        </p:nvSpPr>
        <p:spPr>
          <a:xfrm>
            <a:off x="7589520" y="4572000"/>
            <a:ext cx="3749040" cy="91440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Lowest revenue share — fewer bookings per flight, a candidate for a pricing or scheduling review.</a:t>
            </a:r>
            <a:endParaRPr lang="en-US" sz="1150" dirty="0"/>
          </a:p>
        </p:txBody>
      </p:sp>
      <p:sp>
        <p:nvSpPr>
          <p:cNvPr id="12" name="Text 9"/>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04 · VISUALIZATION</a:t>
            </a:r>
            <a:endParaRPr lang="en-US" sz="1300" dirty="0"/>
          </a:p>
        </p:txBody>
      </p:sp>
      <p:sp>
        <p:nvSpPr>
          <p:cNvPr id="3" name="Text 1"/>
          <p:cNvSpPr txBox="1"/>
          <p:nvPr/>
        </p:nvSpPr>
        <p:spPr>
          <a:xfrm>
            <a:off x="548640" y="822960"/>
            <a:ext cx="10698480" cy="640080"/>
          </a:xfrm>
          <a:prstGeom prst="rect">
            <a:avLst/>
          </a:prstGeom>
          <a:noFill/>
          <a:ln/>
        </p:spPr>
        <p:txBody>
          <a:bodyPr wrap="square" lIns="0" tIns="0" rIns="0" bIns="0" rtlCol="0" anchor="ctr"/>
          <a:lstStyle/>
          <a:p>
            <a:pPr marL="0" indent="0">
              <a:buNone/>
            </a:pPr>
            <a:r>
              <a:rPr lang="en-US" sz="2400" b="1" dirty="0">
                <a:solidFill>
                  <a:srgbClr val="1A2733"/>
                </a:solidFill>
                <a:latin typeface="Cambria" pitchFamily="34" charset="0"/>
                <a:ea typeface="Cambria" pitchFamily="34" charset="-122"/>
                <a:cs typeface="Cambria" pitchFamily="34" charset="-120"/>
              </a:rPr>
              <a:t>Cumulative revenue climbs steadily across the booking window</a:t>
            </a:r>
            <a:endParaRPr lang="en-US" sz="2400" dirty="0"/>
          </a:p>
        </p:txBody>
      </p:sp>
      <p:graphicFrame>
        <p:nvGraphicFramePr>
          <p:cNvPr id="4" name="Chart 0"/>
          <p:cNvGraphicFramePr/>
          <p:nvPr/>
        </p:nvGraphicFramePr>
        <p:xfrm>
          <a:off x="548640" y="1691640"/>
          <a:ext cx="11064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6035040"/>
            <a:ext cx="10058400" cy="365760"/>
          </a:xfrm>
          <a:prstGeom prst="rect">
            <a:avLst/>
          </a:prstGeom>
          <a:noFill/>
          <a:ln/>
        </p:spPr>
        <p:txBody>
          <a:bodyPr wrap="square" lIns="0" tIns="0" rIns="0" bIns="0" rtlCol="0" anchor="ctr"/>
          <a:lstStyle/>
          <a:p>
            <a:pPr marL="0" indent="0">
              <a:buNone/>
            </a:pPr>
            <a:r>
              <a:rPr lang="en-US" sz="1150" i="1" dirty="0">
                <a:solidFill>
                  <a:srgbClr val="5C7080"/>
                </a:solidFill>
                <a:latin typeface="Calibri" pitchFamily="34" charset="0"/>
                <a:ea typeface="Calibri" pitchFamily="34" charset="-122"/>
                <a:cs typeface="Calibri" pitchFamily="34" charset="-120"/>
              </a:rPr>
              <a:t>Query Q12 — SUM() OVER (ORDER BY Payment_Date), a running total that never resets.</a:t>
            </a:r>
            <a:endParaRPr lang="en-US" sz="1150" dirty="0"/>
          </a:p>
        </p:txBody>
      </p:sp>
      <p:sp>
        <p:nvSpPr>
          <p:cNvPr id="6" name="Text 3"/>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5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CONCLUSION</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this project demonstrates</a:t>
            </a:r>
            <a:endParaRPr lang="en-US" sz="2800" dirty="0"/>
          </a:p>
        </p:txBody>
      </p:sp>
      <p:sp>
        <p:nvSpPr>
          <p:cNvPr id="4" name="Shape 2"/>
          <p:cNvSpPr/>
          <p:nvPr/>
        </p:nvSpPr>
        <p:spPr>
          <a:xfrm>
            <a:off x="548640" y="1993392"/>
            <a:ext cx="128016" cy="128016"/>
          </a:xfrm>
          <a:prstGeom prst="ellipse">
            <a:avLst/>
          </a:prstGeom>
          <a:solidFill>
            <a:srgbClr val="F4A300"/>
          </a:solidFill>
          <a:ln/>
        </p:spPr>
        <p:txBody>
          <a:bodyPr/>
          <a:lstStyle/>
          <a:p>
            <a:endParaRPr lang="en-IN"/>
          </a:p>
        </p:txBody>
      </p:sp>
      <p:sp>
        <p:nvSpPr>
          <p:cNvPr id="5" name="Text 3"/>
          <p:cNvSpPr txBox="1"/>
          <p:nvPr/>
        </p:nvSpPr>
        <p:spPr>
          <a:xfrm>
            <a:off x="914400" y="192024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A normalized, real-world relational schema — five tables, four relationship types</a:t>
            </a:r>
            <a:endParaRPr lang="en-US" sz="1600" dirty="0"/>
          </a:p>
        </p:txBody>
      </p:sp>
      <p:sp>
        <p:nvSpPr>
          <p:cNvPr id="6" name="Shape 4"/>
          <p:cNvSpPr/>
          <p:nvPr/>
        </p:nvSpPr>
        <p:spPr>
          <a:xfrm>
            <a:off x="548640" y="2770632"/>
            <a:ext cx="128016" cy="128016"/>
          </a:xfrm>
          <a:prstGeom prst="ellipse">
            <a:avLst/>
          </a:prstGeom>
          <a:solidFill>
            <a:srgbClr val="F4A300"/>
          </a:solidFill>
          <a:ln/>
        </p:spPr>
        <p:txBody>
          <a:bodyPr/>
          <a:lstStyle/>
          <a:p>
            <a:endParaRPr lang="en-IN"/>
          </a:p>
        </p:txBody>
      </p:sp>
      <p:sp>
        <p:nvSpPr>
          <p:cNvPr id="7" name="Text 5"/>
          <p:cNvSpPr txBox="1"/>
          <p:nvPr/>
        </p:nvSpPr>
        <p:spPr>
          <a:xfrm>
            <a:off x="914400" y="269748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30 queries spanning filtering, joins, subqueries, aggregation, and set logic</a:t>
            </a:r>
            <a:endParaRPr lang="en-US" sz="1600" dirty="0"/>
          </a:p>
        </p:txBody>
      </p:sp>
      <p:sp>
        <p:nvSpPr>
          <p:cNvPr id="8" name="Shape 6"/>
          <p:cNvSpPr/>
          <p:nvPr/>
        </p:nvSpPr>
        <p:spPr>
          <a:xfrm>
            <a:off x="548640" y="3547872"/>
            <a:ext cx="128016" cy="128016"/>
          </a:xfrm>
          <a:prstGeom prst="ellipse">
            <a:avLst/>
          </a:prstGeom>
          <a:solidFill>
            <a:srgbClr val="F4A300"/>
          </a:solidFill>
          <a:ln/>
        </p:spPr>
        <p:txBody>
          <a:bodyPr/>
          <a:lstStyle/>
          <a:p>
            <a:endParaRPr lang="en-IN"/>
          </a:p>
        </p:txBody>
      </p:sp>
      <p:sp>
        <p:nvSpPr>
          <p:cNvPr id="9" name="Text 7"/>
          <p:cNvSpPr txBox="1"/>
          <p:nvPr/>
        </p:nvSpPr>
        <p:spPr>
          <a:xfrm>
            <a:off x="914400" y="347472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Six distinct window-function patterns for ranking, running totals, and trend comparisons</a:t>
            </a:r>
            <a:endParaRPr lang="en-US" sz="1600" dirty="0"/>
          </a:p>
        </p:txBody>
      </p:sp>
      <p:sp>
        <p:nvSpPr>
          <p:cNvPr id="10" name="Shape 8"/>
          <p:cNvSpPr/>
          <p:nvPr/>
        </p:nvSpPr>
        <p:spPr>
          <a:xfrm>
            <a:off x="548640" y="4325112"/>
            <a:ext cx="128016" cy="128016"/>
          </a:xfrm>
          <a:prstGeom prst="ellipse">
            <a:avLst/>
          </a:prstGeom>
          <a:solidFill>
            <a:srgbClr val="F4A300"/>
          </a:solidFill>
          <a:ln/>
        </p:spPr>
        <p:txBody>
          <a:bodyPr/>
          <a:lstStyle/>
          <a:p>
            <a:endParaRPr lang="en-IN"/>
          </a:p>
        </p:txBody>
      </p:sp>
      <p:sp>
        <p:nvSpPr>
          <p:cNvPr id="11" name="Text 9"/>
          <p:cNvSpPr txBox="1"/>
          <p:nvPr/>
        </p:nvSpPr>
        <p:spPr>
          <a:xfrm>
            <a:off x="914400" y="425196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CTEs, indexes, and views used the way production reporting systems actually use them</a:t>
            </a:r>
            <a:endParaRPr lang="en-US" sz="1600" dirty="0"/>
          </a:p>
        </p:txBody>
      </p:sp>
      <p:sp>
        <p:nvSpPr>
          <p:cNvPr id="12" name="Shape 10"/>
          <p:cNvSpPr/>
          <p:nvPr/>
        </p:nvSpPr>
        <p:spPr>
          <a:xfrm>
            <a:off x="548640" y="5303520"/>
            <a:ext cx="11064240" cy="0"/>
          </a:xfrm>
          <a:prstGeom prst="line">
            <a:avLst/>
          </a:prstGeom>
          <a:noFill/>
          <a:ln w="12700">
            <a:solidFill>
              <a:srgbClr val="2C6E8F"/>
            </a:solidFill>
            <a:prstDash val="solid"/>
          </a:ln>
        </p:spPr>
        <p:txBody>
          <a:bodyPr/>
          <a:lstStyle/>
          <a:p>
            <a:endParaRPr lang="en-IN"/>
          </a:p>
        </p:txBody>
      </p:sp>
      <p:sp>
        <p:nvSpPr>
          <p:cNvPr id="13" name="Text 11"/>
          <p:cNvSpPr txBox="1"/>
          <p:nvPr/>
        </p:nvSpPr>
        <p:spPr>
          <a:xfrm>
            <a:off x="548640" y="5486400"/>
            <a:ext cx="11064240" cy="457200"/>
          </a:xfrm>
          <a:prstGeom prst="rect">
            <a:avLst/>
          </a:prstGeom>
          <a:noFill/>
          <a:ln/>
        </p:spPr>
        <p:txBody>
          <a:bodyPr wrap="square" lIns="0" tIns="0" rIns="0" bIns="0" rtlCol="0" anchor="ctr"/>
          <a:lstStyle/>
          <a:p>
            <a:pPr marL="0" indent="0">
              <a:buNone/>
            </a:pPr>
            <a:r>
              <a:rPr lang="en-US" sz="1350" i="1" dirty="0">
                <a:solidFill>
                  <a:srgbClr val="9FB8C8"/>
                </a:solidFill>
                <a:latin typeface="Calibri" pitchFamily="34" charset="0"/>
                <a:ea typeface="Calibri" pitchFamily="34" charset="-122"/>
                <a:cs typeface="Calibri" pitchFamily="34" charset="-120"/>
              </a:rPr>
              <a:t>Next step: connect SkyBookDB's views to Power BI for a live booking &amp; revenue dashboard.</a:t>
            </a:r>
            <a:endParaRPr lang="en-US" sz="1350" dirty="0"/>
          </a:p>
        </p:txBody>
      </p:sp>
      <p:sp>
        <p:nvSpPr>
          <p:cNvPr id="14" name="Text 12"/>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9FB8C8"/>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8412480" y="-2286000"/>
            <a:ext cx="7315200" cy="7315200"/>
          </a:xfrm>
          <a:prstGeom prst="ellipse">
            <a:avLst/>
          </a:prstGeom>
          <a:solidFill>
            <a:srgbClr val="1C7293">
              <a:alpha val="22000"/>
            </a:srgbClr>
          </a:solidFill>
          <a:ln/>
        </p:spPr>
        <p:txBody>
          <a:bodyPr/>
          <a:lstStyle/>
          <a:p>
            <a:endParaRPr lang="en-IN"/>
          </a:p>
        </p:txBody>
      </p:sp>
      <p:sp>
        <p:nvSpPr>
          <p:cNvPr id="3" name="Text 1"/>
          <p:cNvSpPr txBox="1"/>
          <p:nvPr/>
        </p:nvSpPr>
        <p:spPr>
          <a:xfrm>
            <a:off x="822960" y="2468880"/>
            <a:ext cx="9144000" cy="100584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2"/>
          <p:cNvSpPr txBox="1"/>
          <p:nvPr/>
        </p:nvSpPr>
        <p:spPr>
          <a:xfrm>
            <a:off x="822960" y="3429000"/>
            <a:ext cx="96012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SkyBook — Airline Flight Booking &amp; Revenue Management System</a:t>
            </a:r>
            <a:endParaRPr lang="en-US" sz="1600" dirty="0"/>
          </a:p>
        </p:txBody>
      </p:sp>
      <p:sp>
        <p:nvSpPr>
          <p:cNvPr id="5" name="Text 3"/>
          <p:cNvSpPr txBox="1"/>
          <p:nvPr/>
        </p:nvSpPr>
        <p:spPr>
          <a:xfrm>
            <a:off x="822960" y="3931920"/>
            <a:ext cx="9601200" cy="365760"/>
          </a:xfrm>
          <a:prstGeom prst="rect">
            <a:avLst/>
          </a:prstGeom>
          <a:noFill/>
          <a:ln/>
        </p:spPr>
        <p:txBody>
          <a:bodyPr wrap="square" lIns="0" tIns="0" rIns="0" bIns="0" rtlCol="0" anchor="ctr"/>
          <a:lstStyle/>
          <a:p>
            <a:pPr marL="0" indent="0">
              <a:buNone/>
            </a:pPr>
            <a:r>
              <a:rPr lang="en-US" sz="1300" dirty="0">
                <a:solidFill>
                  <a:srgbClr val="9FB8C8"/>
                </a:solidFill>
                <a:latin typeface="Calibri" pitchFamily="34" charset="0"/>
                <a:ea typeface="Calibri" pitchFamily="34" charset="-122"/>
                <a:cs typeface="Calibri" pitchFamily="34" charset="-120"/>
              </a:rPr>
              <a:t>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875</Words>
  <Application>Microsoft Office PowerPoint</Application>
  <PresentationFormat>Widescreen</PresentationFormat>
  <Paragraphs>156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Sadia Uzma Ashrafi</cp:lastModifiedBy>
  <cp:revision>3</cp:revision>
  <dcterms:created xsi:type="dcterms:W3CDTF">2026-09-05T18:38:10Z</dcterms:created>
  <dcterms:modified xsi:type="dcterms:W3CDTF">2026-09-15T09:28:37Z</dcterms:modified>
</cp:coreProperties>
</file>